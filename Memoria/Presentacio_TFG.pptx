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3" r:id="rId7"/>
    <p:sldId id="271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66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AE60"/>
    <a:srgbClr val="E0568C"/>
    <a:srgbClr val="FFFFFF"/>
    <a:srgbClr val="2F80ED"/>
    <a:srgbClr val="616161"/>
    <a:srgbClr val="D150E6"/>
    <a:srgbClr val="FF66FF"/>
    <a:srgbClr val="F6F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97" autoAdjust="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6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4392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0C014-A591-072B-DB91-5F621C791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5463B-5B1D-3220-F258-038ADB5DD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57A4D-03BD-7933-3A3D-5B95B8A52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CBC71-5298-D92C-C16F-CDF8190EE0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42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12B2F-2DA2-299D-F965-9936A8FB6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9EAB38-3144-A071-860C-F109F6D43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B177C-6EB8-54DE-0471-C99D61FBE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F0905-D801-66AC-6CE7-4BF4A7B0B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02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5000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Icono&#10;&#10;El contenido generado por IA puede ser incorrecto.">
            <a:extLst>
              <a:ext uri="{FF2B5EF4-FFF2-40B4-BE49-F238E27FC236}">
                <a16:creationId xmlns:a16="http://schemas.microsoft.com/office/drawing/2014/main" id="{0CBDD341-6A9B-71F0-2C49-72C3CBAF1F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b="17787"/>
          <a:stretch>
            <a:fillRect/>
          </a:stretch>
        </p:blipFill>
        <p:spPr>
          <a:xfrm>
            <a:off x="2648607" y="206912"/>
            <a:ext cx="6418143" cy="665108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79" y="989287"/>
            <a:ext cx="11209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ca-ES" sz="2900" b="1" noProof="0" dirty="0">
                <a:solidFill>
                  <a:srgbClr val="1B2A41"/>
                </a:solidFill>
              </a:rPr>
              <a:t>Estudi i desenvolupament d’una arquitectura d’intel·ligència artificial </a:t>
            </a:r>
            <a:r>
              <a:rPr lang="ca-ES" sz="2900" b="1" noProof="0" dirty="0" err="1">
                <a:solidFill>
                  <a:srgbClr val="1B2A41"/>
                </a:solidFill>
              </a:rPr>
              <a:t>neuromòrfica</a:t>
            </a:r>
            <a:r>
              <a:rPr lang="ca-ES" sz="2900" b="1" noProof="0" dirty="0">
                <a:solidFill>
                  <a:srgbClr val="1B2A41"/>
                </a:solidFill>
              </a:rPr>
              <a:t> basada en xarxes neuronals de polsos (</a:t>
            </a:r>
            <a:r>
              <a:rPr lang="ca-ES" sz="2900" b="1" noProof="0" dirty="0" err="1">
                <a:solidFill>
                  <a:srgbClr val="1B2A41"/>
                </a:solidFill>
              </a:rPr>
              <a:t>SNNs</a:t>
            </a:r>
            <a:r>
              <a:rPr lang="ca-ES" sz="2900" b="1" noProof="0" dirty="0">
                <a:solidFill>
                  <a:srgbClr val="1B2A41"/>
                </a:solidFill>
              </a:rPr>
              <a:t>).</a:t>
            </a:r>
            <a:endParaRPr lang="ca-ES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7439747" y="5365004"/>
            <a:ext cx="5669280" cy="972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ca-ES" sz="1300" noProof="0" dirty="0">
                <a:solidFill>
                  <a:srgbClr val="111827"/>
                </a:solidFill>
              </a:rPr>
              <a:t>Alejandro Pérez Hernández</a:t>
            </a:r>
            <a:endParaRPr lang="ca-ES" sz="1300" noProof="0" dirty="0"/>
          </a:p>
          <a:p>
            <a:pPr marL="0" indent="0">
              <a:buNone/>
            </a:pPr>
            <a:r>
              <a:rPr lang="ca-ES" sz="1300" noProof="0" dirty="0">
                <a:solidFill>
                  <a:srgbClr val="111827"/>
                </a:solidFill>
              </a:rPr>
              <a:t>Grau en Enginyeria en Tecnologies Industrials</a:t>
            </a:r>
            <a:endParaRPr lang="ca-ES" sz="1300" noProof="0" dirty="0"/>
          </a:p>
          <a:p>
            <a:pPr marL="0" indent="0">
              <a:buNone/>
            </a:pPr>
            <a:r>
              <a:rPr lang="ca-ES" sz="1300" noProof="0" dirty="0">
                <a:solidFill>
                  <a:srgbClr val="111827"/>
                </a:solidFill>
              </a:rPr>
              <a:t>Director: Álvaro Gómez Pau</a:t>
            </a:r>
          </a:p>
          <a:p>
            <a:pPr marL="0" indent="0">
              <a:buNone/>
            </a:pPr>
            <a:r>
              <a:rPr lang="ca-ES" sz="1300" noProof="0" dirty="0">
                <a:solidFill>
                  <a:srgbClr val="111827"/>
                </a:solidFill>
              </a:rPr>
              <a:t>Abril 2026</a:t>
            </a:r>
            <a:endParaRPr lang="ca-ES" sz="1300" noProof="0" dirty="0"/>
          </a:p>
        </p:txBody>
      </p:sp>
      <p:sp>
        <p:nvSpPr>
          <p:cNvPr id="8" name="Shape 5"/>
          <p:cNvSpPr/>
          <p:nvPr/>
        </p:nvSpPr>
        <p:spPr>
          <a:xfrm>
            <a:off x="7412315" y="5160052"/>
            <a:ext cx="457200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pic>
        <p:nvPicPr>
          <p:cNvPr id="13" name="Imagen 12" descr="Dibujo en fondo negro&#10;&#10;El contenido generado por IA puede ser incorrecto.">
            <a:extLst>
              <a:ext uri="{FF2B5EF4-FFF2-40B4-BE49-F238E27FC236}">
                <a16:creationId xmlns:a16="http://schemas.microsoft.com/office/drawing/2014/main" id="{376C98BF-29DB-67D5-3CE8-F04113EE2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8642" y="305155"/>
            <a:ext cx="562649" cy="5418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254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cs typeface="Arial" pitchFamily="34" charset="-120"/>
              </a:rPr>
              <a:t>Índex</a:t>
            </a:r>
            <a:endParaRPr lang="ca-ES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991233"/>
            <a:ext cx="1115568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5" name="Text 3"/>
          <p:cNvSpPr/>
          <p:nvPr/>
        </p:nvSpPr>
        <p:spPr>
          <a:xfrm>
            <a:off x="822959" y="2127929"/>
            <a:ext cx="9253729" cy="531570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ca-ES" sz="1700" b="1" noProof="0" dirty="0"/>
              <a:t>Motivació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ca-ES" sz="1700" b="1" dirty="0"/>
              <a:t>Objectius del treball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ca-ES" sz="1700" b="1" noProof="0" dirty="0"/>
              <a:t>Base tècnica: ANN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ca-ES" sz="1700" b="1" dirty="0"/>
              <a:t>Base tècnica: SNN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ca-ES" sz="1700" b="1" dirty="0"/>
              <a:t>Metodologia general de conversió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ca-ES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pràctic 1: Classificació de punts dins o fora d’un polígon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ca-ES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Resultats del cas polígon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ca-ES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pràctic 2: Implementació pel </a:t>
            </a:r>
            <a:r>
              <a:rPr lang="ca-ES" b="1" dirty="0" err="1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r>
              <a:rPr lang="ca-ES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MNIST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ca-ES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Resultats MNIST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ca-ES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visual CNN </a:t>
            </a:r>
            <a:r>
              <a:rPr lang="ca-ES" b="1" dirty="0" err="1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r>
              <a:rPr lang="ca-ES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SNN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ca-ES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Resultats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ca-ES" b="1" dirty="0"/>
              <a:t>Pressupost i impacte ambiental i social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ca-ES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i treball futur</a:t>
            </a:r>
            <a:endParaRPr lang="ca-ES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ca-ES" b="1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ca-ES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ca-ES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ca-ES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ca-ES" b="1" dirty="0">
              <a:solidFill>
                <a:srgbClr val="1B2A4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ca-ES" dirty="0"/>
          </a:p>
          <a:p>
            <a:pPr marL="742950" lvl="1" indent="-285750">
              <a:buSzPct val="100000"/>
              <a:buFont typeface="Arial" panose="020B0604020202020204" pitchFamily="34" charset="0"/>
              <a:buChar char="•"/>
            </a:pPr>
            <a:endParaRPr lang="ca-ES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ca-ES" sz="1700" b="1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ca-ES" sz="1700" b="1" noProof="0" dirty="0"/>
          </a:p>
        </p:txBody>
      </p:sp>
      <p:sp>
        <p:nvSpPr>
          <p:cNvPr id="11" name="Text 8"/>
          <p:cNvSpPr/>
          <p:nvPr/>
        </p:nvSpPr>
        <p:spPr>
          <a:xfrm>
            <a:off x="10698480" y="6492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a-ES" sz="1200" noProof="0" dirty="0">
                <a:solidFill>
                  <a:srgbClr val="6B7280"/>
                </a:solidFill>
              </a:rPr>
              <a:t>02</a:t>
            </a:r>
            <a:r>
              <a:rPr lang="ca-ES" sz="700" noProof="0" dirty="0">
                <a:solidFill>
                  <a:srgbClr val="6B7280"/>
                </a:solidFill>
              </a:rPr>
              <a:t> </a:t>
            </a:r>
            <a:endParaRPr lang="ca-ES" sz="7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158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</a:t>
            </a:r>
            <a:endParaRPr lang="ca-ES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464822" y="942883"/>
            <a:ext cx="1115568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6" name="Shape 4"/>
          <p:cNvSpPr/>
          <p:nvPr/>
        </p:nvSpPr>
        <p:spPr>
          <a:xfrm>
            <a:off x="6480513" y="1780038"/>
            <a:ext cx="5223807" cy="355971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pic>
        <p:nvPicPr>
          <p:cNvPr id="7" name="Image 0" descr="/mnt/data/tfg_assets/extracted/p25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219" y="1853834"/>
            <a:ext cx="5099882" cy="34361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2027" y="5339753"/>
            <a:ext cx="4959199" cy="160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750" noProof="0" dirty="0">
                <a:solidFill>
                  <a:srgbClr val="6B7280"/>
                </a:solidFill>
              </a:rPr>
              <a:t>Consum energètic associat a models d’IA. </a:t>
            </a:r>
            <a:r>
              <a:rPr lang="fr-FR" sz="800" dirty="0"/>
              <a:t>Font: S. Chen, </a:t>
            </a:r>
            <a:r>
              <a:rPr lang="fr-FR" sz="800" i="1" dirty="0"/>
              <a:t>Nature</a:t>
            </a:r>
            <a:r>
              <a:rPr lang="fr-FR" sz="800" dirty="0"/>
              <a:t>, 2025.</a:t>
            </a:r>
            <a:endParaRPr lang="ca-ES" sz="750" noProof="0" dirty="0"/>
          </a:p>
        </p:txBody>
      </p:sp>
      <p:sp>
        <p:nvSpPr>
          <p:cNvPr id="14" name="Text 11"/>
          <p:cNvSpPr/>
          <p:nvPr/>
        </p:nvSpPr>
        <p:spPr>
          <a:xfrm>
            <a:off x="10698480" y="6492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a-ES" sz="1200" noProof="0" dirty="0">
                <a:solidFill>
                  <a:srgbClr val="6B7280"/>
                </a:solidFill>
              </a:rPr>
              <a:t>03</a:t>
            </a:r>
            <a:r>
              <a:rPr lang="ca-ES" sz="700" noProof="0" dirty="0">
                <a:solidFill>
                  <a:srgbClr val="6B7280"/>
                </a:solidFill>
              </a:rPr>
              <a:t> </a:t>
            </a:r>
            <a:endParaRPr lang="ca-ES" sz="700" noProof="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3759A40-CF6E-7152-192D-209C0776E43C}"/>
              </a:ext>
            </a:extLst>
          </p:cNvPr>
          <p:cNvSpPr txBox="1"/>
          <p:nvPr/>
        </p:nvSpPr>
        <p:spPr>
          <a:xfrm>
            <a:off x="301016" y="3527967"/>
            <a:ext cx="28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noProof="0" dirty="0"/>
              <a:t>Alt cost computacional</a:t>
            </a:r>
          </a:p>
        </p:txBody>
      </p:sp>
      <p:cxnSp>
        <p:nvCxnSpPr>
          <p:cNvPr id="19" name="Conector: curvado 18">
            <a:extLst>
              <a:ext uri="{FF2B5EF4-FFF2-40B4-BE49-F238E27FC236}">
                <a16:creationId xmlns:a16="http://schemas.microsoft.com/office/drawing/2014/main" id="{012A953D-97B2-4C05-427F-4B8EB7E74F9C}"/>
              </a:ext>
            </a:extLst>
          </p:cNvPr>
          <p:cNvCxnSpPr>
            <a:cxnSpLocks/>
          </p:cNvCxnSpPr>
          <p:nvPr/>
        </p:nvCxnSpPr>
        <p:spPr>
          <a:xfrm>
            <a:off x="2836952" y="3749209"/>
            <a:ext cx="914400" cy="9144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: curvado 19">
            <a:extLst>
              <a:ext uri="{FF2B5EF4-FFF2-40B4-BE49-F238E27FC236}">
                <a16:creationId xmlns:a16="http://schemas.microsoft.com/office/drawing/2014/main" id="{1EC3A8EA-D08B-E43E-86E3-4C33420251D6}"/>
              </a:ext>
            </a:extLst>
          </p:cNvPr>
          <p:cNvCxnSpPr>
            <a:cxnSpLocks/>
          </p:cNvCxnSpPr>
          <p:nvPr/>
        </p:nvCxnSpPr>
        <p:spPr>
          <a:xfrm flipV="1">
            <a:off x="2836952" y="2799849"/>
            <a:ext cx="914400" cy="9144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6AE83CE-693E-71E4-9929-C9DF43C2E829}"/>
              </a:ext>
            </a:extLst>
          </p:cNvPr>
          <p:cNvSpPr txBox="1"/>
          <p:nvPr/>
        </p:nvSpPr>
        <p:spPr>
          <a:xfrm>
            <a:off x="3779183" y="4470533"/>
            <a:ext cx="2662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noProof="0" dirty="0"/>
              <a:t>Grans consums en centres de dades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568B77F-E627-39B4-0643-DB1B84398278}"/>
              </a:ext>
            </a:extLst>
          </p:cNvPr>
          <p:cNvSpPr txBox="1"/>
          <p:nvPr/>
        </p:nvSpPr>
        <p:spPr>
          <a:xfrm>
            <a:off x="3784880" y="2199684"/>
            <a:ext cx="26621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noProof="0" dirty="0"/>
              <a:t>Dificultat d’implementació en sistemes amb recursos limitats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94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Objectius del treball</a:t>
            </a:r>
            <a:endParaRPr lang="ca-ES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4872487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b="1" noProof="0" dirty="0">
                <a:solidFill>
                  <a:srgbClr val="2F80ED"/>
                </a:solidFill>
              </a:rPr>
              <a:t>1</a:t>
            </a:r>
            <a:endParaRPr lang="ca-ES" noProof="0" dirty="0"/>
          </a:p>
        </p:txBody>
      </p:sp>
      <p:sp>
        <p:nvSpPr>
          <p:cNvPr id="6" name="Text 4"/>
          <p:cNvSpPr/>
          <p:nvPr/>
        </p:nvSpPr>
        <p:spPr>
          <a:xfrm>
            <a:off x="1298448" y="4925143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600" b="1" noProof="0" dirty="0">
                <a:solidFill>
                  <a:srgbClr val="1B2A41"/>
                </a:solidFill>
              </a:rPr>
              <a:t>Entendre</a:t>
            </a:r>
            <a:endParaRPr lang="ca-ES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5146810"/>
            <a:ext cx="30175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ca-ES" sz="1200" noProof="0" dirty="0">
                <a:solidFill>
                  <a:srgbClr val="111827"/>
                </a:solidFill>
              </a:rPr>
              <a:t>Situar les </a:t>
            </a:r>
            <a:r>
              <a:rPr lang="ca-ES" sz="1200" noProof="0" dirty="0" err="1">
                <a:solidFill>
                  <a:srgbClr val="111827"/>
                </a:solidFill>
              </a:rPr>
              <a:t>SNNs</a:t>
            </a:r>
            <a:r>
              <a:rPr lang="ca-ES" sz="1200" noProof="0" dirty="0">
                <a:solidFill>
                  <a:srgbClr val="111827"/>
                </a:solidFill>
              </a:rPr>
              <a:t> dins l’evolució de la IA i estudiar-ne els fonaments tècnics.</a:t>
            </a:r>
            <a:endParaRPr lang="ca-ES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731520" y="6281928"/>
            <a:ext cx="3063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4526280" y="4872487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b="1" noProof="0" dirty="0">
                <a:solidFill>
                  <a:srgbClr val="2F80ED"/>
                </a:solidFill>
              </a:rPr>
              <a:t>2</a:t>
            </a:r>
            <a:endParaRPr lang="ca-ES" noProof="0" dirty="0"/>
          </a:p>
        </p:txBody>
      </p:sp>
      <p:sp>
        <p:nvSpPr>
          <p:cNvPr id="10" name="Text 8"/>
          <p:cNvSpPr/>
          <p:nvPr/>
        </p:nvSpPr>
        <p:spPr>
          <a:xfrm>
            <a:off x="5093208" y="4925143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600" b="1" noProof="0" dirty="0">
                <a:solidFill>
                  <a:srgbClr val="1B2A41"/>
                </a:solidFill>
              </a:rPr>
              <a:t>Implementar</a:t>
            </a:r>
            <a:endParaRPr lang="ca-ES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4526280" y="5146810"/>
            <a:ext cx="30175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ca-ES" sz="1200" noProof="0" dirty="0">
                <a:solidFill>
                  <a:srgbClr val="111827"/>
                </a:solidFill>
              </a:rPr>
              <a:t>Entrenar models ANN/CNN i convertir-los a SNN mitjançant codificació per taxa.</a:t>
            </a:r>
            <a:endParaRPr lang="ca-ES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4526280" y="6281928"/>
            <a:ext cx="3063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8321040" y="4872487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b="1" noProof="0" dirty="0">
                <a:solidFill>
                  <a:srgbClr val="2F80ED"/>
                </a:solidFill>
              </a:rPr>
              <a:t>3</a:t>
            </a:r>
            <a:endParaRPr lang="ca-ES" noProof="0" dirty="0"/>
          </a:p>
        </p:txBody>
      </p:sp>
      <p:sp>
        <p:nvSpPr>
          <p:cNvPr id="14" name="Text 12"/>
          <p:cNvSpPr/>
          <p:nvPr/>
        </p:nvSpPr>
        <p:spPr>
          <a:xfrm>
            <a:off x="8887968" y="4931449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600" b="1" noProof="0" dirty="0">
                <a:solidFill>
                  <a:srgbClr val="1B2A41"/>
                </a:solidFill>
              </a:rPr>
              <a:t>Avaluar</a:t>
            </a:r>
            <a:endParaRPr lang="ca-E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321040" y="5146810"/>
            <a:ext cx="30175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ca-ES" sz="1200" noProof="0" dirty="0">
                <a:solidFill>
                  <a:srgbClr val="111827"/>
                </a:solidFill>
              </a:rPr>
              <a:t>Comparar resultats, visualitzar prediccions i valorar-ne potencial tecnològic.</a:t>
            </a:r>
            <a:endParaRPr lang="ca-ES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8321040" y="6281928"/>
            <a:ext cx="3063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sz="1400" noProof="0" dirty="0"/>
          </a:p>
        </p:txBody>
      </p:sp>
      <p:sp>
        <p:nvSpPr>
          <p:cNvPr id="19" name="Text 17"/>
          <p:cNvSpPr/>
          <p:nvPr/>
        </p:nvSpPr>
        <p:spPr>
          <a:xfrm>
            <a:off x="10698480" y="6492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a-ES" sz="1200" noProof="0" dirty="0">
                <a:solidFill>
                  <a:srgbClr val="6B7280"/>
                </a:solidFill>
              </a:rPr>
              <a:t>04</a:t>
            </a:r>
            <a:endParaRPr lang="ca-ES" sz="1200" noProof="0" dirty="0"/>
          </a:p>
        </p:txBody>
      </p:sp>
      <p:sp>
        <p:nvSpPr>
          <p:cNvPr id="3" name="QuadreDeText 2">
            <a:extLst>
              <a:ext uri="{FF2B5EF4-FFF2-40B4-BE49-F238E27FC236}">
                <a16:creationId xmlns:a16="http://schemas.microsoft.com/office/drawing/2014/main" id="{C948FE63-FEA3-EC20-36F8-87F5A6BAA541}"/>
              </a:ext>
            </a:extLst>
          </p:cNvPr>
          <p:cNvSpPr txBox="1"/>
          <p:nvPr/>
        </p:nvSpPr>
        <p:spPr>
          <a:xfrm>
            <a:off x="731520" y="2044857"/>
            <a:ext cx="50512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 err="1"/>
              <a:t>Comprovar</a:t>
            </a:r>
            <a:r>
              <a:rPr lang="en-GB" sz="2000" b="1" dirty="0"/>
              <a:t> la </a:t>
            </a:r>
            <a:r>
              <a:rPr lang="en-GB" sz="2000" b="1" dirty="0" err="1"/>
              <a:t>viabilitat</a:t>
            </a:r>
            <a:r>
              <a:rPr lang="en-GB" sz="2000" b="1" dirty="0"/>
              <a:t> de la </a:t>
            </a:r>
            <a:r>
              <a:rPr lang="en-GB" sz="2000" b="1" dirty="0" err="1"/>
              <a:t>conversió</a:t>
            </a:r>
            <a:r>
              <a:rPr lang="en-GB" sz="2000" b="1" dirty="0"/>
              <a:t> </a:t>
            </a:r>
            <a:r>
              <a:rPr lang="en-GB" sz="2000" b="1" dirty="0" err="1"/>
              <a:t>d’una</a:t>
            </a:r>
            <a:r>
              <a:rPr lang="en-GB" sz="2000" b="1" dirty="0"/>
              <a:t> ANN a </a:t>
            </a:r>
            <a:r>
              <a:rPr lang="en-GB" sz="2000" b="1" dirty="0" err="1"/>
              <a:t>una</a:t>
            </a:r>
            <a:r>
              <a:rPr lang="en-GB" sz="2000" b="1" dirty="0"/>
              <a:t> SNN</a:t>
            </a:r>
            <a:r>
              <a:rPr lang="en-GB" sz="2000" dirty="0"/>
              <a:t> </a:t>
            </a:r>
            <a:r>
              <a:rPr lang="en-GB" sz="2000" dirty="0" err="1"/>
              <a:t>mantenint</a:t>
            </a:r>
            <a:r>
              <a:rPr lang="en-GB" sz="2000" dirty="0"/>
              <a:t> un </a:t>
            </a:r>
            <a:r>
              <a:rPr lang="en-GB" sz="2000" dirty="0" err="1"/>
              <a:t>comportament</a:t>
            </a:r>
            <a:r>
              <a:rPr lang="en-GB" sz="2000" dirty="0"/>
              <a:t> </a:t>
            </a:r>
            <a:r>
              <a:rPr lang="en-GB" sz="2000" dirty="0" err="1"/>
              <a:t>funcional</a:t>
            </a:r>
            <a:r>
              <a:rPr lang="en-GB" sz="2000" dirty="0"/>
              <a:t> similar.</a:t>
            </a:r>
          </a:p>
        </p:txBody>
      </p:sp>
      <p:sp>
        <p:nvSpPr>
          <p:cNvPr id="17" name="QuadreDeText 16">
            <a:extLst>
              <a:ext uri="{FF2B5EF4-FFF2-40B4-BE49-F238E27FC236}">
                <a16:creationId xmlns:a16="http://schemas.microsoft.com/office/drawing/2014/main" id="{214FAC04-5043-51E3-8A36-66C38962353F}"/>
              </a:ext>
            </a:extLst>
          </p:cNvPr>
          <p:cNvSpPr txBox="1"/>
          <p:nvPr/>
        </p:nvSpPr>
        <p:spPr>
          <a:xfrm>
            <a:off x="6028734" y="2044857"/>
            <a:ext cx="562986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 err="1"/>
              <a:t>Avaluar</a:t>
            </a:r>
            <a:r>
              <a:rPr lang="en-GB" sz="2000" b="1" dirty="0"/>
              <a:t> </a:t>
            </a:r>
            <a:r>
              <a:rPr lang="en-GB" sz="2000" b="1" dirty="0" err="1"/>
              <a:t>si</a:t>
            </a:r>
            <a:r>
              <a:rPr lang="en-GB" sz="2000" b="1" dirty="0"/>
              <a:t> les SNNs </a:t>
            </a:r>
            <a:r>
              <a:rPr lang="en-GB" sz="2000" b="1" dirty="0" err="1"/>
              <a:t>poden</a:t>
            </a:r>
            <a:r>
              <a:rPr lang="en-GB" sz="2000" b="1" dirty="0"/>
              <a:t> </a:t>
            </a:r>
            <a:r>
              <a:rPr lang="en-GB" sz="2000" b="1" dirty="0" err="1"/>
              <a:t>constituir</a:t>
            </a:r>
            <a:r>
              <a:rPr lang="en-GB" sz="2000" b="1" dirty="0"/>
              <a:t> </a:t>
            </a:r>
            <a:r>
              <a:rPr lang="en-GB" sz="2000" b="1" dirty="0" err="1"/>
              <a:t>una</a:t>
            </a:r>
            <a:r>
              <a:rPr lang="en-GB" sz="2000" b="1" dirty="0"/>
              <a:t> </a:t>
            </a:r>
            <a:r>
              <a:rPr lang="en-GB" sz="2000" b="1" dirty="0" err="1"/>
              <a:t>alternativa</a:t>
            </a:r>
            <a:r>
              <a:rPr lang="en-GB" sz="2000" b="1" dirty="0"/>
              <a:t> </a:t>
            </a:r>
            <a:r>
              <a:rPr lang="en-GB" sz="2000" b="1" dirty="0" err="1"/>
              <a:t>prometedora</a:t>
            </a:r>
            <a:r>
              <a:rPr lang="en-GB" sz="2000" b="1" dirty="0"/>
              <a:t> a les ANNs</a:t>
            </a:r>
            <a:r>
              <a:rPr lang="en-GB" sz="2000" dirty="0"/>
              <a:t> </a:t>
            </a:r>
            <a:r>
              <a:rPr lang="en-GB" sz="2000" dirty="0" err="1"/>
              <a:t>en</a:t>
            </a:r>
            <a:r>
              <a:rPr lang="en-GB" sz="2000" dirty="0"/>
              <a:t> </a:t>
            </a:r>
            <a:r>
              <a:rPr lang="en-GB" sz="2000" dirty="0" err="1"/>
              <a:t>escenaris</a:t>
            </a:r>
            <a:r>
              <a:rPr lang="en-GB" sz="2000" dirty="0"/>
              <a:t> on </a:t>
            </a:r>
            <a:r>
              <a:rPr lang="en-GB" sz="2000" dirty="0" err="1"/>
              <a:t>l’eficiència</a:t>
            </a:r>
            <a:r>
              <a:rPr lang="en-GB" sz="2000" dirty="0"/>
              <a:t> </a:t>
            </a:r>
            <a:r>
              <a:rPr lang="en-GB" sz="2000" dirty="0" err="1"/>
              <a:t>energètica</a:t>
            </a:r>
            <a:r>
              <a:rPr lang="en-GB" sz="2000" dirty="0"/>
              <a:t> </a:t>
            </a:r>
            <a:r>
              <a:rPr lang="en-GB" sz="2000" dirty="0" err="1"/>
              <a:t>i</a:t>
            </a:r>
            <a:r>
              <a:rPr lang="en-GB" sz="2000" dirty="0"/>
              <a:t> </a:t>
            </a:r>
            <a:r>
              <a:rPr lang="en-GB" sz="2000" dirty="0" err="1"/>
              <a:t>el</a:t>
            </a:r>
            <a:r>
              <a:rPr lang="en-GB" sz="2000" dirty="0"/>
              <a:t> </a:t>
            </a:r>
            <a:r>
              <a:rPr lang="en-GB" sz="2000" dirty="0" err="1"/>
              <a:t>processament</a:t>
            </a:r>
            <a:r>
              <a:rPr lang="en-GB" sz="2000" dirty="0"/>
              <a:t> temporal </a:t>
            </a:r>
            <a:r>
              <a:rPr lang="en-GB" sz="2000" dirty="0" err="1"/>
              <a:t>són</a:t>
            </a:r>
            <a:r>
              <a:rPr lang="en-GB" sz="2000" dirty="0"/>
              <a:t> factors </a:t>
            </a:r>
            <a:r>
              <a:rPr lang="en-GB" sz="2000" dirty="0" err="1"/>
              <a:t>rellevants</a:t>
            </a:r>
            <a:r>
              <a:rPr lang="en-GB" sz="2000" dirty="0"/>
              <a:t>.</a:t>
            </a:r>
          </a:p>
        </p:txBody>
      </p:sp>
      <p:sp>
        <p:nvSpPr>
          <p:cNvPr id="18" name="QuadreDeText 17">
            <a:extLst>
              <a:ext uri="{FF2B5EF4-FFF2-40B4-BE49-F238E27FC236}">
                <a16:creationId xmlns:a16="http://schemas.microsoft.com/office/drawing/2014/main" id="{8CC0563D-4EE8-6DAB-B074-9D08FCB40E20}"/>
              </a:ext>
            </a:extLst>
          </p:cNvPr>
          <p:cNvSpPr txBox="1"/>
          <p:nvPr/>
        </p:nvSpPr>
        <p:spPr>
          <a:xfrm>
            <a:off x="592783" y="4179168"/>
            <a:ext cx="3455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Flow de </a:t>
            </a:r>
            <a:r>
              <a:rPr lang="en-GB" b="1" dirty="0" err="1"/>
              <a:t>treball</a:t>
            </a:r>
            <a:r>
              <a:rPr lang="en-GB" b="1" dirty="0"/>
              <a:t>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tge 8" descr="Imatge que conté text, diagrama, captura de pantalla, cercle&#10;&#10;Pot ser que el contingut generat per IA no sigui correcte.">
            <a:extLst>
              <a:ext uri="{FF2B5EF4-FFF2-40B4-BE49-F238E27FC236}">
                <a16:creationId xmlns:a16="http://schemas.microsoft.com/office/drawing/2014/main" id="{EAB70FAA-C337-57BD-59B7-93A95936B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175" y="1908324"/>
            <a:ext cx="4713971" cy="201001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02920" y="6217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tècnica: ANN</a:t>
            </a:r>
            <a:endParaRPr lang="ca-ES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5" name="Shape 3"/>
          <p:cNvSpPr/>
          <p:nvPr/>
        </p:nvSpPr>
        <p:spPr>
          <a:xfrm>
            <a:off x="6625404" y="1572681"/>
            <a:ext cx="4667436" cy="25930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7" name="Text 4"/>
          <p:cNvSpPr/>
          <p:nvPr/>
        </p:nvSpPr>
        <p:spPr>
          <a:xfrm>
            <a:off x="7313202" y="4246473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750" noProof="0" dirty="0">
                <a:solidFill>
                  <a:srgbClr val="6B7280"/>
                </a:solidFill>
              </a:rPr>
              <a:t>Capes i activacions contínues</a:t>
            </a:r>
            <a:endParaRPr lang="ca-ES" sz="750" noProof="0" dirty="0"/>
          </a:p>
        </p:txBody>
      </p:sp>
      <p:sp>
        <p:nvSpPr>
          <p:cNvPr id="8" name="Shape 5"/>
          <p:cNvSpPr/>
          <p:nvPr/>
        </p:nvSpPr>
        <p:spPr>
          <a:xfrm>
            <a:off x="865508" y="1572681"/>
            <a:ext cx="4667439" cy="25930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6"/>
          <p:cNvSpPr/>
          <p:nvPr/>
        </p:nvSpPr>
        <p:spPr>
          <a:xfrm>
            <a:off x="1341017" y="4246473"/>
            <a:ext cx="371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ca-ES" sz="750" noProof="0" dirty="0">
                <a:solidFill>
                  <a:srgbClr val="6B7280"/>
                </a:solidFill>
              </a:rPr>
              <a:t>Model de neurona de perceptró. </a:t>
            </a:r>
            <a:r>
              <a:rPr lang="fr-FR" sz="800" dirty="0"/>
              <a:t>Font: F. </a:t>
            </a:r>
            <a:r>
              <a:rPr lang="fr-FR" sz="800" dirty="0" err="1"/>
              <a:t>Rosenblatt</a:t>
            </a:r>
            <a:r>
              <a:rPr lang="fr-FR" sz="800" dirty="0"/>
              <a:t>, </a:t>
            </a:r>
            <a:r>
              <a:rPr lang="fr-FR" sz="800" i="1" dirty="0" err="1"/>
              <a:t>Psychological</a:t>
            </a:r>
            <a:r>
              <a:rPr lang="fr-FR" sz="800" i="1" dirty="0"/>
              <a:t> </a:t>
            </a:r>
            <a:r>
              <a:rPr lang="fr-FR" sz="800" i="1" dirty="0" err="1"/>
              <a:t>Review</a:t>
            </a:r>
            <a:r>
              <a:rPr lang="fr-FR" sz="800" dirty="0"/>
              <a:t>, 1958.</a:t>
            </a:r>
            <a:endParaRPr lang="ca-ES" sz="750" noProof="0" dirty="0"/>
          </a:p>
        </p:txBody>
      </p:sp>
      <p:sp>
        <p:nvSpPr>
          <p:cNvPr id="14" name="Text 9"/>
          <p:cNvSpPr/>
          <p:nvPr/>
        </p:nvSpPr>
        <p:spPr>
          <a:xfrm>
            <a:off x="745389" y="5120639"/>
            <a:ext cx="1042416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sz="1400" dirty="0" err="1"/>
              <a:t>S’organitza</a:t>
            </a:r>
            <a:r>
              <a:rPr lang="en-GB" sz="1400" dirty="0"/>
              <a:t> </a:t>
            </a:r>
            <a:r>
              <a:rPr lang="en-GB" sz="1400" dirty="0" err="1"/>
              <a:t>en</a:t>
            </a:r>
            <a:r>
              <a:rPr lang="en-GB" sz="1400" dirty="0"/>
              <a:t> capes </a:t>
            </a:r>
            <a:r>
              <a:rPr lang="en-GB" sz="1400" dirty="0" err="1"/>
              <a:t>d’entrada</a:t>
            </a:r>
            <a:r>
              <a:rPr lang="en-GB" sz="1400" dirty="0"/>
              <a:t>, capes </a:t>
            </a:r>
            <a:r>
              <a:rPr lang="en-GB" sz="1400" dirty="0" err="1"/>
              <a:t>ocultes</a:t>
            </a:r>
            <a:r>
              <a:rPr lang="en-GB" sz="1400" dirty="0"/>
              <a:t> </a:t>
            </a:r>
            <a:r>
              <a:rPr lang="en-GB" sz="1400" dirty="0" err="1"/>
              <a:t>i</a:t>
            </a:r>
            <a:r>
              <a:rPr lang="en-GB" sz="1400" dirty="0"/>
              <a:t> </a:t>
            </a:r>
            <a:r>
              <a:rPr lang="en-GB" sz="1400" dirty="0" err="1"/>
              <a:t>una</a:t>
            </a:r>
            <a:r>
              <a:rPr lang="en-GB" sz="1400" dirty="0"/>
              <a:t> </a:t>
            </a:r>
            <a:r>
              <a:rPr lang="en-GB" sz="1400" dirty="0" err="1"/>
              <a:t>capa</a:t>
            </a:r>
            <a:r>
              <a:rPr lang="en-GB" sz="1400" dirty="0"/>
              <a:t> de </a:t>
            </a:r>
            <a:r>
              <a:rPr lang="en-GB" sz="1400" dirty="0" err="1"/>
              <a:t>sortida</a:t>
            </a:r>
            <a:r>
              <a:rPr lang="en-GB" sz="1400" dirty="0"/>
              <a:t>, </a:t>
            </a:r>
            <a:r>
              <a:rPr lang="en-GB" sz="1400" dirty="0" err="1"/>
              <a:t>connectades</a:t>
            </a:r>
            <a:r>
              <a:rPr lang="en-GB" sz="1400" dirty="0"/>
              <a:t> </a:t>
            </a:r>
            <a:r>
              <a:rPr lang="en-GB" sz="1400" dirty="0" err="1"/>
              <a:t>mitjançant</a:t>
            </a:r>
            <a:r>
              <a:rPr lang="en-GB" sz="1400" dirty="0"/>
              <a:t> pesos </a:t>
            </a:r>
            <a:r>
              <a:rPr lang="en-GB" sz="1400" dirty="0" err="1"/>
              <a:t>i</a:t>
            </a:r>
            <a:r>
              <a:rPr lang="en-GB" sz="1400" dirty="0"/>
              <a:t> </a:t>
            </a:r>
            <a:r>
              <a:rPr lang="en-GB" sz="1400" dirty="0" err="1"/>
              <a:t>biaixos</a:t>
            </a:r>
            <a:r>
              <a:rPr lang="en-GB" sz="1400" dirty="0"/>
              <a:t>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sz="1400" dirty="0"/>
              <a:t>Cada </a:t>
            </a:r>
            <a:r>
              <a:rPr lang="en-GB" sz="1400" dirty="0" err="1"/>
              <a:t>neurona</a:t>
            </a:r>
            <a:r>
              <a:rPr lang="en-GB" sz="1400" dirty="0"/>
              <a:t> rep les </a:t>
            </a:r>
            <a:r>
              <a:rPr lang="en-GB" sz="1400" dirty="0" err="1"/>
              <a:t>sortides</a:t>
            </a:r>
            <a:r>
              <a:rPr lang="en-GB" sz="1400" dirty="0"/>
              <a:t> de la </a:t>
            </a:r>
            <a:r>
              <a:rPr lang="en-GB" sz="1400" dirty="0" err="1"/>
              <a:t>capa</a:t>
            </a:r>
            <a:r>
              <a:rPr lang="en-GB" sz="1400" dirty="0"/>
              <a:t> anterior, </a:t>
            </a:r>
            <a:r>
              <a:rPr lang="en-GB" sz="1400" dirty="0" err="1"/>
              <a:t>en</a:t>
            </a:r>
            <a:r>
              <a:rPr lang="en-GB" sz="1400" dirty="0"/>
              <a:t> </a:t>
            </a:r>
            <a:r>
              <a:rPr lang="en-GB" sz="1400" dirty="0" err="1"/>
              <a:t>calcula</a:t>
            </a:r>
            <a:r>
              <a:rPr lang="en-GB" sz="1400" dirty="0"/>
              <a:t> </a:t>
            </a:r>
            <a:r>
              <a:rPr lang="en-GB" sz="1400" dirty="0" err="1"/>
              <a:t>una</a:t>
            </a:r>
            <a:r>
              <a:rPr lang="en-GB" sz="1400" dirty="0"/>
              <a:t> </a:t>
            </a:r>
            <a:r>
              <a:rPr lang="en-GB" sz="1400" dirty="0" err="1"/>
              <a:t>suma</a:t>
            </a:r>
            <a:r>
              <a:rPr lang="en-GB" sz="1400" dirty="0"/>
              <a:t> </a:t>
            </a:r>
            <a:r>
              <a:rPr lang="en-GB" sz="1400" dirty="0" err="1"/>
              <a:t>ponderada</a:t>
            </a:r>
            <a:r>
              <a:rPr lang="en-GB" sz="1400" dirty="0"/>
              <a:t> </a:t>
            </a:r>
            <a:r>
              <a:rPr lang="en-GB" sz="1400" dirty="0" err="1"/>
              <a:t>i</a:t>
            </a:r>
            <a:r>
              <a:rPr lang="en-GB" sz="1400" dirty="0"/>
              <a:t> hi </a:t>
            </a:r>
            <a:r>
              <a:rPr lang="en-GB" sz="1400" dirty="0" err="1"/>
              <a:t>aplica</a:t>
            </a:r>
            <a:r>
              <a:rPr lang="en-GB" sz="1400" dirty="0"/>
              <a:t> </a:t>
            </a:r>
            <a:r>
              <a:rPr lang="en-GB" sz="1400" dirty="0" err="1"/>
              <a:t>una</a:t>
            </a:r>
            <a:r>
              <a:rPr lang="en-GB" sz="1400" dirty="0"/>
              <a:t> </a:t>
            </a:r>
            <a:r>
              <a:rPr lang="en-GB" sz="1400" dirty="0" err="1"/>
              <a:t>funció</a:t>
            </a:r>
            <a:r>
              <a:rPr lang="en-GB" sz="1400" dirty="0"/>
              <a:t> </a:t>
            </a:r>
            <a:r>
              <a:rPr lang="en-GB" sz="1400" dirty="0" err="1"/>
              <a:t>d’activació</a:t>
            </a:r>
            <a:r>
              <a:rPr lang="en-GB" sz="1400" dirty="0"/>
              <a:t> no lineal.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sz="1400" dirty="0"/>
              <a:t>Durant </a:t>
            </a:r>
            <a:r>
              <a:rPr lang="en-GB" sz="1400" dirty="0" err="1"/>
              <a:t>l’entrenament</a:t>
            </a:r>
            <a:r>
              <a:rPr lang="en-GB" sz="1400" dirty="0"/>
              <a:t>, les </a:t>
            </a:r>
            <a:r>
              <a:rPr lang="en-GB" sz="1400" dirty="0" err="1"/>
              <a:t>dades</a:t>
            </a:r>
            <a:r>
              <a:rPr lang="en-GB" sz="1400" dirty="0"/>
              <a:t> </a:t>
            </a:r>
            <a:r>
              <a:rPr lang="en-GB" sz="1400" dirty="0" err="1"/>
              <a:t>recorren</a:t>
            </a:r>
            <a:r>
              <a:rPr lang="en-GB" sz="1400" dirty="0"/>
              <a:t> la </a:t>
            </a:r>
            <a:r>
              <a:rPr lang="en-GB" sz="1400" dirty="0" err="1"/>
              <a:t>xarxa</a:t>
            </a:r>
            <a:r>
              <a:rPr lang="en-GB" sz="1400" dirty="0"/>
              <a:t> </a:t>
            </a:r>
            <a:r>
              <a:rPr lang="en-GB" sz="1400" dirty="0" err="1"/>
              <a:t>en</a:t>
            </a:r>
            <a:r>
              <a:rPr lang="en-GB" sz="1400" dirty="0"/>
              <a:t> un </a:t>
            </a:r>
            <a:r>
              <a:rPr lang="en-GB" sz="1400" i="1" dirty="0"/>
              <a:t>forward pass</a:t>
            </a:r>
            <a:r>
              <a:rPr lang="en-GB" sz="1400" dirty="0"/>
              <a:t> per </a:t>
            </a:r>
            <a:r>
              <a:rPr lang="en-GB" sz="1400" dirty="0" err="1"/>
              <a:t>obtenir</a:t>
            </a:r>
            <a:r>
              <a:rPr lang="en-GB" sz="1400" dirty="0"/>
              <a:t> </a:t>
            </a:r>
            <a:r>
              <a:rPr lang="en-GB" sz="1400" dirty="0" err="1"/>
              <a:t>una</a:t>
            </a:r>
            <a:r>
              <a:rPr lang="en-GB" sz="1400" dirty="0"/>
              <a:t> </a:t>
            </a:r>
            <a:r>
              <a:rPr lang="en-GB" sz="1400" dirty="0" err="1"/>
              <a:t>predicció</a:t>
            </a:r>
            <a:r>
              <a:rPr lang="en-GB" sz="1400" dirty="0"/>
              <a:t>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GB" sz="1400" dirty="0"/>
              <a:t>A </a:t>
            </a:r>
            <a:r>
              <a:rPr lang="en-GB" sz="1400" dirty="0" err="1"/>
              <a:t>continuació</a:t>
            </a:r>
            <a:r>
              <a:rPr lang="en-GB" sz="1400" dirty="0"/>
              <a:t>, </a:t>
            </a:r>
            <a:r>
              <a:rPr lang="en-GB" sz="1400" dirty="0" err="1"/>
              <a:t>l’error</a:t>
            </a:r>
            <a:r>
              <a:rPr lang="en-GB" sz="1400" dirty="0"/>
              <a:t> entre la </a:t>
            </a:r>
            <a:r>
              <a:rPr lang="en-GB" sz="1400" dirty="0" err="1"/>
              <a:t>sortida</a:t>
            </a:r>
            <a:r>
              <a:rPr lang="en-GB" sz="1400" dirty="0"/>
              <a:t> </a:t>
            </a:r>
            <a:r>
              <a:rPr lang="en-GB" sz="1400" dirty="0" err="1"/>
              <a:t>predita</a:t>
            </a:r>
            <a:r>
              <a:rPr lang="en-GB" sz="1400" dirty="0"/>
              <a:t> </a:t>
            </a:r>
            <a:r>
              <a:rPr lang="en-GB" sz="1400" dirty="0" err="1"/>
              <a:t>i</a:t>
            </a:r>
            <a:r>
              <a:rPr lang="en-GB" sz="1400" dirty="0"/>
              <a:t> la real es </a:t>
            </a:r>
            <a:r>
              <a:rPr lang="en-GB" sz="1400" dirty="0" err="1"/>
              <a:t>propaga</a:t>
            </a:r>
            <a:r>
              <a:rPr lang="en-GB" sz="1400" dirty="0"/>
              <a:t> </a:t>
            </a:r>
            <a:r>
              <a:rPr lang="en-GB" sz="1400" dirty="0" err="1"/>
              <a:t>enrere</a:t>
            </a:r>
            <a:r>
              <a:rPr lang="en-GB" sz="1400" dirty="0"/>
              <a:t> per </a:t>
            </a:r>
            <a:r>
              <a:rPr lang="en-GB" sz="1400" dirty="0" err="1"/>
              <a:t>ajustar</a:t>
            </a:r>
            <a:r>
              <a:rPr lang="en-GB" sz="1400" dirty="0"/>
              <a:t> pesos </a:t>
            </a:r>
            <a:r>
              <a:rPr lang="en-GB" sz="1400" dirty="0" err="1"/>
              <a:t>i</a:t>
            </a:r>
            <a:r>
              <a:rPr lang="en-GB" sz="1400" dirty="0"/>
              <a:t> </a:t>
            </a:r>
            <a:r>
              <a:rPr lang="en-GB" sz="1400" dirty="0" err="1"/>
              <a:t>biaixos</a:t>
            </a:r>
            <a:r>
              <a:rPr lang="en-GB" sz="1400" dirty="0"/>
              <a:t> </a:t>
            </a:r>
            <a:r>
              <a:rPr lang="en-GB" sz="1400" dirty="0" err="1"/>
              <a:t>mitjançant</a:t>
            </a:r>
            <a:r>
              <a:rPr lang="en-GB" sz="1400" dirty="0"/>
              <a:t> </a:t>
            </a:r>
            <a:r>
              <a:rPr lang="en-GB" sz="1400" dirty="0" err="1"/>
              <a:t>retropropagació</a:t>
            </a:r>
            <a:r>
              <a:rPr lang="en-GB" sz="1400" dirty="0"/>
              <a:t>.</a:t>
            </a:r>
            <a:br>
              <a:rPr lang="en-GB" sz="1400" dirty="0"/>
            </a:br>
            <a:br>
              <a:rPr lang="en-GB" sz="1400" dirty="0"/>
            </a:br>
            <a:endParaRPr lang="ca-ES" sz="1400" noProof="0" dirty="0"/>
          </a:p>
        </p:txBody>
      </p:sp>
      <p:sp>
        <p:nvSpPr>
          <p:cNvPr id="17" name="Text 12"/>
          <p:cNvSpPr/>
          <p:nvPr/>
        </p:nvSpPr>
        <p:spPr>
          <a:xfrm>
            <a:off x="10698480" y="6492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a-ES" sz="1200" noProof="0" dirty="0">
                <a:solidFill>
                  <a:srgbClr val="6B7280"/>
                </a:solidFill>
              </a:rPr>
              <a:t>05</a:t>
            </a:r>
            <a:r>
              <a:rPr lang="ca-ES" sz="700" noProof="0" dirty="0">
                <a:solidFill>
                  <a:srgbClr val="6B7280"/>
                </a:solidFill>
              </a:rPr>
              <a:t> </a:t>
            </a:r>
          </a:p>
        </p:txBody>
      </p:sp>
      <p:pic>
        <p:nvPicPr>
          <p:cNvPr id="19" name="Imagen 18" descr="Diagrama">
            <a:extLst>
              <a:ext uri="{FF2B5EF4-FFF2-40B4-BE49-F238E27FC236}">
                <a16:creationId xmlns:a16="http://schemas.microsoft.com/office/drawing/2014/main" id="{FB76E4CF-2F20-AC4B-73F2-2592AA0CB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796" y="2010464"/>
            <a:ext cx="4304099" cy="18009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C34B00-5A82-13BA-8E13-049E6CF4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06A7DE-A3BA-5068-ACC0-3387DCCBB48C}"/>
              </a:ext>
            </a:extLst>
          </p:cNvPr>
          <p:cNvSpPr/>
          <p:nvPr/>
        </p:nvSpPr>
        <p:spPr>
          <a:xfrm>
            <a:off x="502920" y="6217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tècnica: SNN</a:t>
            </a:r>
            <a:endParaRPr lang="ca-ES" sz="24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4C71FBF-6321-8831-743F-3E1B5D5FC0B5}"/>
              </a:ext>
            </a:extLst>
          </p:cNvPr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F539ADC-B997-FE83-9C2B-76450AE16C57}"/>
              </a:ext>
            </a:extLst>
          </p:cNvPr>
          <p:cNvSpPr/>
          <p:nvPr/>
        </p:nvSpPr>
        <p:spPr>
          <a:xfrm>
            <a:off x="4162646" y="1834898"/>
            <a:ext cx="3802028" cy="211223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pic>
        <p:nvPicPr>
          <p:cNvPr id="6" name="Image 0" descr="/mnt/data/tfg_assets/extracted/p17_img1.png">
            <a:extLst>
              <a:ext uri="{FF2B5EF4-FFF2-40B4-BE49-F238E27FC236}">
                <a16:creationId xmlns:a16="http://schemas.microsoft.com/office/drawing/2014/main" id="{C3B7CD18-5E1A-305E-4386-29806B570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032" y="1897407"/>
            <a:ext cx="3679169" cy="2027748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67B65A2B-1377-98FE-C2AC-E1DDD9C0828F}"/>
              </a:ext>
            </a:extLst>
          </p:cNvPr>
          <p:cNvSpPr/>
          <p:nvPr/>
        </p:nvSpPr>
        <p:spPr>
          <a:xfrm>
            <a:off x="4362630" y="3997572"/>
            <a:ext cx="3466739" cy="154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750" noProof="0" dirty="0">
                <a:solidFill>
                  <a:srgbClr val="6B7280"/>
                </a:solidFill>
              </a:rPr>
              <a:t>Capes i activacions contínues</a:t>
            </a:r>
            <a:endParaRPr lang="ca-ES" sz="750" noProof="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B31E80C-AAC3-659A-66B7-F77E4989FC13}"/>
              </a:ext>
            </a:extLst>
          </p:cNvPr>
          <p:cNvSpPr/>
          <p:nvPr/>
        </p:nvSpPr>
        <p:spPr>
          <a:xfrm>
            <a:off x="311098" y="1834902"/>
            <a:ext cx="3802028" cy="21122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CD5BDC5-90A0-86DB-AA45-BB32CAD5FB15}"/>
              </a:ext>
            </a:extLst>
          </p:cNvPr>
          <p:cNvSpPr/>
          <p:nvPr/>
        </p:nvSpPr>
        <p:spPr>
          <a:xfrm>
            <a:off x="487203" y="3997572"/>
            <a:ext cx="3466739" cy="154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ca-ES" sz="750" noProof="0" dirty="0">
                <a:solidFill>
                  <a:srgbClr val="6B7280"/>
                </a:solidFill>
              </a:rPr>
              <a:t>Model de neurona. </a:t>
            </a:r>
            <a:r>
              <a:rPr lang="en-GB" sz="800" dirty="0"/>
              <a:t>Font: L. </a:t>
            </a:r>
            <a:r>
              <a:rPr lang="en-GB" sz="800" dirty="0" err="1"/>
              <a:t>Lapicque</a:t>
            </a:r>
            <a:r>
              <a:rPr lang="en-GB" sz="800" dirty="0"/>
              <a:t>, 1907.</a:t>
            </a:r>
            <a:endParaRPr lang="ca-ES" sz="750" noProof="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305F553-0068-16FE-F182-0AF26AF99399}"/>
              </a:ext>
            </a:extLst>
          </p:cNvPr>
          <p:cNvSpPr/>
          <p:nvPr/>
        </p:nvSpPr>
        <p:spPr>
          <a:xfrm>
            <a:off x="840765" y="4730486"/>
            <a:ext cx="10690707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152400" indent="-152400">
              <a:buSzPct val="100000"/>
              <a:buChar char="•"/>
            </a:pPr>
            <a:r>
              <a:rPr lang="en-GB" sz="1400" dirty="0" err="1"/>
              <a:t>S’organitza</a:t>
            </a:r>
            <a:r>
              <a:rPr lang="en-GB" sz="1400" dirty="0"/>
              <a:t> </a:t>
            </a:r>
            <a:r>
              <a:rPr lang="en-GB" sz="1400" dirty="0" err="1"/>
              <a:t>en</a:t>
            </a:r>
            <a:r>
              <a:rPr lang="en-GB" sz="1400" dirty="0"/>
              <a:t> capes de neurones </a:t>
            </a:r>
            <a:r>
              <a:rPr lang="en-GB" sz="1400" dirty="0" err="1"/>
              <a:t>connectades</a:t>
            </a:r>
            <a:r>
              <a:rPr lang="en-GB" sz="1400" dirty="0"/>
              <a:t> per pesos </a:t>
            </a:r>
            <a:r>
              <a:rPr lang="en-GB" sz="1400" dirty="0" err="1"/>
              <a:t>sinàptics</a:t>
            </a:r>
            <a:r>
              <a:rPr lang="en-GB" sz="1400" dirty="0"/>
              <a:t>, </a:t>
            </a:r>
            <a:r>
              <a:rPr lang="en-GB" sz="1400" dirty="0" err="1"/>
              <a:t>però</a:t>
            </a:r>
            <a:r>
              <a:rPr lang="en-GB" sz="1400" dirty="0"/>
              <a:t> la </a:t>
            </a:r>
            <a:r>
              <a:rPr lang="en-GB" sz="1400" dirty="0" err="1"/>
              <a:t>informació</a:t>
            </a:r>
            <a:r>
              <a:rPr lang="en-GB" sz="1400" dirty="0"/>
              <a:t> es </a:t>
            </a:r>
            <a:r>
              <a:rPr lang="en-GB" sz="1400" dirty="0" err="1"/>
              <a:t>transmet</a:t>
            </a:r>
            <a:r>
              <a:rPr lang="en-GB" sz="1400" dirty="0"/>
              <a:t> </a:t>
            </a:r>
            <a:r>
              <a:rPr lang="en-GB" sz="1400" dirty="0" err="1"/>
              <a:t>mitjançant</a:t>
            </a:r>
            <a:r>
              <a:rPr lang="en-GB" sz="1400" dirty="0"/>
              <a:t> </a:t>
            </a:r>
            <a:r>
              <a:rPr lang="en-GB" sz="1400" dirty="0" err="1"/>
              <a:t>polsos</a:t>
            </a:r>
            <a:r>
              <a:rPr lang="en-GB" sz="1400" dirty="0"/>
              <a:t> </a:t>
            </a:r>
            <a:r>
              <a:rPr lang="en-GB" sz="1400" dirty="0" err="1"/>
              <a:t>discrets</a:t>
            </a:r>
            <a:r>
              <a:rPr lang="en-GB" sz="1400" dirty="0"/>
              <a:t> </a:t>
            </a:r>
            <a:r>
              <a:rPr lang="en-GB" sz="1400" dirty="0" err="1"/>
              <a:t>en</a:t>
            </a:r>
            <a:r>
              <a:rPr lang="en-GB" sz="1400" dirty="0"/>
              <a:t> </a:t>
            </a:r>
            <a:r>
              <a:rPr lang="en-GB" sz="1400" dirty="0" err="1"/>
              <a:t>el</a:t>
            </a:r>
            <a:r>
              <a:rPr lang="en-GB" sz="1400" dirty="0"/>
              <a:t> temps.</a:t>
            </a:r>
          </a:p>
          <a:p>
            <a:pPr marL="152400" indent="-152400">
              <a:buSzPct val="100000"/>
              <a:buChar char="•"/>
            </a:pPr>
            <a:r>
              <a:rPr lang="en-GB" sz="1400" dirty="0"/>
              <a:t>Cada </a:t>
            </a:r>
            <a:r>
              <a:rPr lang="en-GB" sz="1400" dirty="0" err="1"/>
              <a:t>neurona</a:t>
            </a:r>
            <a:r>
              <a:rPr lang="en-GB" sz="1400" dirty="0"/>
              <a:t> </a:t>
            </a:r>
            <a:r>
              <a:rPr lang="en-GB" sz="1400" dirty="0" err="1"/>
              <a:t>acumula</a:t>
            </a:r>
            <a:r>
              <a:rPr lang="en-GB" sz="1400" dirty="0"/>
              <a:t> al </a:t>
            </a:r>
            <a:r>
              <a:rPr lang="en-GB" sz="1400" dirty="0" err="1"/>
              <a:t>llarg</a:t>
            </a:r>
            <a:r>
              <a:rPr lang="en-GB" sz="1400" dirty="0"/>
              <a:t> del temps </a:t>
            </a:r>
            <a:r>
              <a:rPr lang="en-GB" sz="1400" dirty="0" err="1"/>
              <a:t>els</a:t>
            </a:r>
            <a:r>
              <a:rPr lang="en-GB" sz="1400" dirty="0"/>
              <a:t> </a:t>
            </a:r>
            <a:r>
              <a:rPr lang="en-GB" sz="1400" dirty="0" err="1"/>
              <a:t>corrents</a:t>
            </a:r>
            <a:r>
              <a:rPr lang="en-GB" sz="1400" dirty="0"/>
              <a:t> o </a:t>
            </a:r>
            <a:r>
              <a:rPr lang="en-GB" sz="1400" dirty="0" err="1"/>
              <a:t>polsos</a:t>
            </a:r>
            <a:r>
              <a:rPr lang="en-GB" sz="1400" dirty="0"/>
              <a:t> </a:t>
            </a:r>
            <a:r>
              <a:rPr lang="en-GB" sz="1400" dirty="0" err="1"/>
              <a:t>d’entrada</a:t>
            </a:r>
            <a:r>
              <a:rPr lang="en-GB" sz="1400" dirty="0"/>
              <a:t> al </a:t>
            </a:r>
            <a:r>
              <a:rPr lang="en-GB" sz="1400" dirty="0" err="1"/>
              <a:t>seu</a:t>
            </a:r>
            <a:r>
              <a:rPr lang="en-GB" sz="1400" dirty="0"/>
              <a:t> </a:t>
            </a:r>
            <a:r>
              <a:rPr lang="en-GB" sz="1400" dirty="0" err="1"/>
              <a:t>potencial</a:t>
            </a:r>
            <a:r>
              <a:rPr lang="en-GB" sz="1400" dirty="0"/>
              <a:t> de membrana, </a:t>
            </a:r>
            <a:r>
              <a:rPr lang="en-GB" sz="1400" dirty="0" err="1"/>
              <a:t>incorporant</a:t>
            </a:r>
            <a:r>
              <a:rPr lang="en-GB" sz="1400" dirty="0"/>
              <a:t> </a:t>
            </a:r>
            <a:r>
              <a:rPr lang="en-GB" sz="1400" dirty="0" err="1"/>
              <a:t>també</a:t>
            </a:r>
            <a:r>
              <a:rPr lang="en-GB" sz="1400" dirty="0"/>
              <a:t> un </a:t>
            </a:r>
            <a:r>
              <a:rPr lang="en-GB" sz="1400" dirty="0" err="1"/>
              <a:t>mecanisme</a:t>
            </a:r>
            <a:r>
              <a:rPr lang="en-GB" sz="1400" dirty="0"/>
              <a:t> de </a:t>
            </a:r>
            <a:r>
              <a:rPr lang="en-GB" sz="1400" dirty="0" err="1"/>
              <a:t>fuga</a:t>
            </a:r>
            <a:r>
              <a:rPr lang="en-GB" sz="1400" dirty="0"/>
              <a:t>.</a:t>
            </a:r>
          </a:p>
          <a:p>
            <a:pPr marL="152400" indent="-152400">
              <a:buSzPct val="100000"/>
              <a:buChar char="•"/>
            </a:pPr>
            <a:r>
              <a:rPr lang="en-GB" sz="1400" dirty="0"/>
              <a:t>Quan </a:t>
            </a:r>
            <a:r>
              <a:rPr lang="en-GB" sz="1400" dirty="0" err="1"/>
              <a:t>aquest</a:t>
            </a:r>
            <a:r>
              <a:rPr lang="en-GB" sz="1400" dirty="0"/>
              <a:t> </a:t>
            </a:r>
            <a:r>
              <a:rPr lang="en-GB" sz="1400" dirty="0" err="1"/>
              <a:t>potencial</a:t>
            </a:r>
            <a:r>
              <a:rPr lang="en-GB" sz="1400" dirty="0"/>
              <a:t> </a:t>
            </a:r>
            <a:r>
              <a:rPr lang="en-GB" sz="1400" dirty="0" err="1"/>
              <a:t>supera</a:t>
            </a:r>
            <a:r>
              <a:rPr lang="en-GB" sz="1400" dirty="0"/>
              <a:t> un </a:t>
            </a:r>
            <a:r>
              <a:rPr lang="en-GB" sz="1400" dirty="0" err="1"/>
              <a:t>llindar</a:t>
            </a:r>
            <a:r>
              <a:rPr lang="en-GB" sz="1400" dirty="0"/>
              <a:t>, la </a:t>
            </a:r>
            <a:r>
              <a:rPr lang="en-GB" sz="1400" dirty="0" err="1"/>
              <a:t>neurona</a:t>
            </a:r>
            <a:r>
              <a:rPr lang="en-GB" sz="1400" dirty="0"/>
              <a:t> </a:t>
            </a:r>
            <a:r>
              <a:rPr lang="en-GB" sz="1400" dirty="0" err="1"/>
              <a:t>emet</a:t>
            </a:r>
            <a:r>
              <a:rPr lang="en-GB" sz="1400" dirty="0"/>
              <a:t> un spike </a:t>
            </a:r>
            <a:r>
              <a:rPr lang="en-GB" sz="1400" dirty="0" err="1"/>
              <a:t>i</a:t>
            </a:r>
            <a:r>
              <a:rPr lang="en-GB" sz="1400" dirty="0"/>
              <a:t> </a:t>
            </a:r>
            <a:r>
              <a:rPr lang="en-GB" sz="1400" dirty="0" err="1"/>
              <a:t>reinicia</a:t>
            </a:r>
            <a:r>
              <a:rPr lang="en-GB" sz="1400" dirty="0"/>
              <a:t> </a:t>
            </a:r>
            <a:r>
              <a:rPr lang="en-GB" sz="1400" dirty="0" err="1"/>
              <a:t>parcialment</a:t>
            </a:r>
            <a:r>
              <a:rPr lang="en-GB" sz="1400" dirty="0"/>
              <a:t> o </a:t>
            </a:r>
            <a:r>
              <a:rPr lang="en-GB" sz="1400" dirty="0" err="1"/>
              <a:t>totalment</a:t>
            </a:r>
            <a:r>
              <a:rPr lang="en-GB" sz="1400" dirty="0"/>
              <a:t> </a:t>
            </a:r>
            <a:r>
              <a:rPr lang="en-GB" sz="1400" dirty="0" err="1"/>
              <a:t>el</a:t>
            </a:r>
            <a:r>
              <a:rPr lang="en-GB" sz="1400" dirty="0"/>
              <a:t> </a:t>
            </a:r>
            <a:r>
              <a:rPr lang="en-GB" sz="1400" dirty="0" err="1"/>
              <a:t>seu</a:t>
            </a:r>
            <a:r>
              <a:rPr lang="en-GB" sz="1400" dirty="0"/>
              <a:t> </a:t>
            </a:r>
            <a:r>
              <a:rPr lang="en-GB" sz="1400" dirty="0" err="1"/>
              <a:t>estat</a:t>
            </a:r>
            <a:r>
              <a:rPr lang="en-GB" sz="1400" dirty="0"/>
              <a:t> intern.</a:t>
            </a:r>
          </a:p>
          <a:p>
            <a:pPr marL="152400" indent="-152400">
              <a:buSzPct val="100000"/>
              <a:buChar char="•"/>
            </a:pPr>
            <a:r>
              <a:rPr lang="en-GB" sz="1400" dirty="0"/>
              <a:t>Durant </a:t>
            </a:r>
            <a:r>
              <a:rPr lang="en-GB" sz="1400" dirty="0" err="1"/>
              <a:t>l’entrenament</a:t>
            </a:r>
            <a:r>
              <a:rPr lang="en-GB" sz="1400" dirty="0"/>
              <a:t> o la </a:t>
            </a:r>
            <a:r>
              <a:rPr lang="en-GB" sz="1400" dirty="0" err="1"/>
              <a:t>conversió</a:t>
            </a:r>
            <a:r>
              <a:rPr lang="en-GB" sz="1400" dirty="0"/>
              <a:t> des </a:t>
            </a:r>
            <a:r>
              <a:rPr lang="en-GB" sz="1400" dirty="0" err="1"/>
              <a:t>d’una</a:t>
            </a:r>
            <a:r>
              <a:rPr lang="en-GB" sz="1400" dirty="0"/>
              <a:t> ANN, </a:t>
            </a:r>
            <a:r>
              <a:rPr lang="en-GB" sz="1400" dirty="0" err="1"/>
              <a:t>el</a:t>
            </a:r>
            <a:r>
              <a:rPr lang="en-GB" sz="1400" dirty="0"/>
              <a:t> </a:t>
            </a:r>
            <a:r>
              <a:rPr lang="en-GB" sz="1400" dirty="0" err="1"/>
              <a:t>comportament</a:t>
            </a:r>
            <a:r>
              <a:rPr lang="en-GB" sz="1400" dirty="0"/>
              <a:t> de la </a:t>
            </a:r>
            <a:r>
              <a:rPr lang="en-GB" sz="1400" dirty="0" err="1"/>
              <a:t>xarxa</a:t>
            </a:r>
            <a:r>
              <a:rPr lang="en-GB" sz="1400" dirty="0"/>
              <a:t> </a:t>
            </a:r>
            <a:r>
              <a:rPr lang="en-GB" sz="1400" dirty="0" err="1"/>
              <a:t>s’ajusta</a:t>
            </a:r>
            <a:r>
              <a:rPr lang="en-GB" sz="1400" dirty="0"/>
              <a:t> </a:t>
            </a:r>
            <a:r>
              <a:rPr lang="en-GB" sz="1400" dirty="0" err="1"/>
              <a:t>tenint</a:t>
            </a:r>
            <a:r>
              <a:rPr lang="en-GB" sz="1400" dirty="0"/>
              <a:t> </a:t>
            </a:r>
            <a:r>
              <a:rPr lang="en-GB" sz="1400" dirty="0" err="1"/>
              <a:t>en</a:t>
            </a:r>
            <a:r>
              <a:rPr lang="en-GB" sz="1400" dirty="0"/>
              <a:t> </a:t>
            </a:r>
            <a:r>
              <a:rPr lang="en-GB" sz="1400" dirty="0" err="1"/>
              <a:t>compte</a:t>
            </a:r>
            <a:r>
              <a:rPr lang="en-GB" sz="1400" dirty="0"/>
              <a:t> la </a:t>
            </a:r>
            <a:r>
              <a:rPr lang="en-GB" sz="1400" dirty="0" err="1"/>
              <a:t>dinàmica</a:t>
            </a:r>
            <a:r>
              <a:rPr lang="en-GB" sz="1400" dirty="0"/>
              <a:t> temporal </a:t>
            </a:r>
            <a:r>
              <a:rPr lang="en-GB" sz="1400" dirty="0" err="1"/>
              <a:t>i</a:t>
            </a:r>
            <a:r>
              <a:rPr lang="en-GB" sz="1400" dirty="0"/>
              <a:t> la taxa o </a:t>
            </a:r>
            <a:r>
              <a:rPr lang="en-GB" sz="1400" dirty="0" err="1"/>
              <a:t>el</a:t>
            </a:r>
            <a:r>
              <a:rPr lang="en-GB" sz="1400" dirty="0"/>
              <a:t> </a:t>
            </a:r>
            <a:r>
              <a:rPr lang="en-GB" sz="1400" dirty="0" err="1"/>
              <a:t>patró</a:t>
            </a:r>
            <a:r>
              <a:rPr lang="en-GB" sz="1400" dirty="0"/>
              <a:t> de </a:t>
            </a:r>
            <a:r>
              <a:rPr lang="en-GB" sz="1400" dirty="0" err="1"/>
              <a:t>polsos</a:t>
            </a:r>
            <a:r>
              <a:rPr lang="en-GB" sz="1400" dirty="0"/>
              <a:t> </a:t>
            </a:r>
            <a:r>
              <a:rPr lang="en-GB" sz="1400" dirty="0" err="1"/>
              <a:t>generats</a:t>
            </a:r>
            <a:r>
              <a:rPr lang="en-GB" sz="1400" dirty="0"/>
              <a:t>.</a:t>
            </a:r>
            <a:br>
              <a:rPr lang="en-GB" sz="1400" dirty="0"/>
            </a:br>
            <a:br>
              <a:rPr lang="en-GB" sz="1400" dirty="0"/>
            </a:br>
            <a:endParaRPr lang="ca-ES" sz="1400" noProof="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39B3E8C-C3EF-7B52-1696-C58CF65DB400}"/>
              </a:ext>
            </a:extLst>
          </p:cNvPr>
          <p:cNvSpPr/>
          <p:nvPr/>
        </p:nvSpPr>
        <p:spPr>
          <a:xfrm>
            <a:off x="10698480" y="6492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a-ES" sz="1200" noProof="0" dirty="0">
                <a:solidFill>
                  <a:srgbClr val="6B7280"/>
                </a:solidFill>
              </a:rPr>
              <a:t>06</a:t>
            </a:r>
            <a:r>
              <a:rPr lang="ca-ES" sz="700" noProof="0" dirty="0">
                <a:solidFill>
                  <a:srgbClr val="6B7280"/>
                </a:solidFill>
              </a:rPr>
              <a:t> </a:t>
            </a:r>
          </a:p>
        </p:txBody>
      </p:sp>
      <p:pic>
        <p:nvPicPr>
          <p:cNvPr id="3" name="Image 1" descr="/mnt/data/tfg_assets/extracted/p29_img2.png">
            <a:extLst>
              <a:ext uri="{FF2B5EF4-FFF2-40B4-BE49-F238E27FC236}">
                <a16:creationId xmlns:a16="http://schemas.microsoft.com/office/drawing/2014/main" id="{809A0A6A-7F8C-7143-B399-F9D58C21A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94" y="2488256"/>
            <a:ext cx="3737695" cy="1004725"/>
          </a:xfrm>
          <a:prstGeom prst="rect">
            <a:avLst/>
          </a:prstGeom>
        </p:spPr>
      </p:pic>
      <p:sp>
        <p:nvSpPr>
          <p:cNvPr id="9" name="Shape 7">
            <a:extLst>
              <a:ext uri="{FF2B5EF4-FFF2-40B4-BE49-F238E27FC236}">
                <a16:creationId xmlns:a16="http://schemas.microsoft.com/office/drawing/2014/main" id="{A349F121-4B1F-3CCB-1758-37D85617428E}"/>
              </a:ext>
            </a:extLst>
          </p:cNvPr>
          <p:cNvSpPr/>
          <p:nvPr/>
        </p:nvSpPr>
        <p:spPr>
          <a:xfrm>
            <a:off x="8007022" y="1834898"/>
            <a:ext cx="3802028" cy="2112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pic>
        <p:nvPicPr>
          <p:cNvPr id="11" name="Image 2" descr="/mnt/data/tfg_assets/extracted/p34_img1.jpeg">
            <a:extLst>
              <a:ext uri="{FF2B5EF4-FFF2-40B4-BE49-F238E27FC236}">
                <a16:creationId xmlns:a16="http://schemas.microsoft.com/office/drawing/2014/main" id="{58F71413-6A20-3EBF-F4A9-B7CC168AB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7860" y="1939579"/>
            <a:ext cx="3717543" cy="1923795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B2D79711-2CC7-2DDE-4574-06727044F76B}"/>
              </a:ext>
            </a:extLst>
          </p:cNvPr>
          <p:cNvSpPr/>
          <p:nvPr/>
        </p:nvSpPr>
        <p:spPr>
          <a:xfrm>
            <a:off x="8179592" y="3997572"/>
            <a:ext cx="3466739" cy="154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ca-ES" sz="750" noProof="0" dirty="0">
                <a:solidFill>
                  <a:srgbClr val="6B7280"/>
                </a:solidFill>
              </a:rPr>
              <a:t>Tipus de codificació. </a:t>
            </a:r>
            <a:r>
              <a:rPr lang="fr-FR" sz="800" dirty="0"/>
              <a:t>Font: C. Zhao et al., 2017.</a:t>
            </a:r>
            <a:endParaRPr lang="ca-ES" sz="750" noProof="0" dirty="0"/>
          </a:p>
        </p:txBody>
      </p:sp>
    </p:spTree>
    <p:extLst>
      <p:ext uri="{BB962C8B-B14F-4D97-AF65-F5344CB8AC3E}">
        <p14:creationId xmlns:p14="http://schemas.microsoft.com/office/powerpoint/2010/main" val="2449594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6C59E-D940-E8D0-A56F-EEC553DB8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 descr="Imagen que contiene objeto, antena, reloj&#10;&#10;El contenido generado por IA puede ser incorrecto.">
            <a:extLst>
              <a:ext uri="{FF2B5EF4-FFF2-40B4-BE49-F238E27FC236}">
                <a16:creationId xmlns:a16="http://schemas.microsoft.com/office/drawing/2014/main" id="{94ED4E3E-7C58-B908-F282-BF9AA2A73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30" y="4420184"/>
            <a:ext cx="4638144" cy="1246774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29E8573-91EF-E9E6-DF59-379C088B7C22}"/>
              </a:ext>
            </a:extLst>
          </p:cNvPr>
          <p:cNvSpPr/>
          <p:nvPr/>
        </p:nvSpPr>
        <p:spPr>
          <a:xfrm>
            <a:off x="502920" y="6217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tècnica: SNN</a:t>
            </a:r>
            <a:endParaRPr lang="ca-ES" sz="24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5EAEA2D-C14C-35C8-BD79-740C46977C78}"/>
              </a:ext>
            </a:extLst>
          </p:cNvPr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D995284-D991-AC02-2ECD-D8D135D7DF70}"/>
              </a:ext>
            </a:extLst>
          </p:cNvPr>
          <p:cNvSpPr/>
          <p:nvPr/>
        </p:nvSpPr>
        <p:spPr>
          <a:xfrm>
            <a:off x="1349203" y="1767684"/>
            <a:ext cx="4746797" cy="159543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F611B45-944B-FAFF-7DE3-487E1EC86C61}"/>
              </a:ext>
            </a:extLst>
          </p:cNvPr>
          <p:cNvSpPr/>
          <p:nvPr/>
        </p:nvSpPr>
        <p:spPr>
          <a:xfrm>
            <a:off x="1174414" y="3693765"/>
            <a:ext cx="5223488" cy="232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750" noProof="0" dirty="0">
                <a:solidFill>
                  <a:srgbClr val="6B7280"/>
                </a:solidFill>
              </a:rPr>
              <a:t>Model de neurona</a:t>
            </a:r>
            <a:endParaRPr lang="ca-ES" sz="750" noProof="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CF7C1FE-7B73-48CB-5906-FCC9ED74C463}"/>
              </a:ext>
            </a:extLst>
          </p:cNvPr>
          <p:cNvSpPr/>
          <p:nvPr/>
        </p:nvSpPr>
        <p:spPr>
          <a:xfrm>
            <a:off x="6787941" y="1767680"/>
            <a:ext cx="4746796" cy="159544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dirty="0"/>
          </a:p>
        </p:txBody>
      </p:sp>
      <p:pic>
        <p:nvPicPr>
          <p:cNvPr id="9" name="Image 1" descr="/mnt/data/tfg_assets/extracted/p29_img2.png">
            <a:extLst>
              <a:ext uri="{FF2B5EF4-FFF2-40B4-BE49-F238E27FC236}">
                <a16:creationId xmlns:a16="http://schemas.microsoft.com/office/drawing/2014/main" id="{202F1A2E-F3B1-E41C-333B-2B40DCCA8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045" y="1990942"/>
            <a:ext cx="4641310" cy="1247626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6F878039-5DB7-913F-AFE4-499710837906}"/>
              </a:ext>
            </a:extLst>
          </p:cNvPr>
          <p:cNvSpPr/>
          <p:nvPr/>
        </p:nvSpPr>
        <p:spPr>
          <a:xfrm>
            <a:off x="7289417" y="3722132"/>
            <a:ext cx="3743843" cy="166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750" noProof="0" dirty="0">
                <a:solidFill>
                  <a:srgbClr val="6B7280"/>
                </a:solidFill>
              </a:rPr>
              <a:t>SNN: potencial + llindar + Spike model</a:t>
            </a:r>
            <a:endParaRPr lang="ca-ES" sz="750" noProof="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002EC76-E724-968A-1997-F1C9F2B08B6F}"/>
              </a:ext>
            </a:extLst>
          </p:cNvPr>
          <p:cNvSpPr/>
          <p:nvPr/>
        </p:nvSpPr>
        <p:spPr>
          <a:xfrm>
            <a:off x="10698480" y="6492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a-ES" sz="1200" noProof="0" dirty="0">
                <a:solidFill>
                  <a:srgbClr val="6B7280"/>
                </a:solidFill>
              </a:rPr>
              <a:t>07</a:t>
            </a:r>
            <a:endParaRPr lang="ca-ES" sz="1200" noProof="0" dirty="0"/>
          </a:p>
        </p:txBody>
      </p:sp>
      <p:pic>
        <p:nvPicPr>
          <p:cNvPr id="18" name="Imagen 17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0F11DCCF-ABA9-BB76-B98E-7F9182E8E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6594" y="1820197"/>
            <a:ext cx="3172014" cy="1490412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EE2870C1-3DD4-EA64-2762-FF3FE27D5ACB}"/>
              </a:ext>
            </a:extLst>
          </p:cNvPr>
          <p:cNvSpPr txBox="1"/>
          <p:nvPr/>
        </p:nvSpPr>
        <p:spPr>
          <a:xfrm>
            <a:off x="558836" y="2430089"/>
            <a:ext cx="79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D150E6"/>
                </a:solidFill>
              </a:rPr>
              <a:t>IF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6780A1B-6B0C-3459-76E0-EA85F8011028}"/>
              </a:ext>
            </a:extLst>
          </p:cNvPr>
          <p:cNvSpPr txBox="1"/>
          <p:nvPr/>
        </p:nvSpPr>
        <p:spPr>
          <a:xfrm>
            <a:off x="522443" y="4858905"/>
            <a:ext cx="79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E0568C"/>
                </a:solidFill>
              </a:rPr>
              <a:t>LIF</a:t>
            </a:r>
          </a:p>
        </p:txBody>
      </p:sp>
      <p:pic>
        <p:nvPicPr>
          <p:cNvPr id="28" name="Imagen 27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D5742ECD-3283-16A3-592E-8117AF6BBD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6595" y="4329469"/>
            <a:ext cx="3172014" cy="1363409"/>
          </a:xfrm>
          <a:prstGeom prst="rect">
            <a:avLst/>
          </a:prstGeom>
        </p:spPr>
      </p:pic>
      <p:sp>
        <p:nvSpPr>
          <p:cNvPr id="31" name="Shape 3">
            <a:extLst>
              <a:ext uri="{FF2B5EF4-FFF2-40B4-BE49-F238E27FC236}">
                <a16:creationId xmlns:a16="http://schemas.microsoft.com/office/drawing/2014/main" id="{9AD37208-522D-F09D-C998-447D1BE9D1FE}"/>
              </a:ext>
            </a:extLst>
          </p:cNvPr>
          <p:cNvSpPr/>
          <p:nvPr/>
        </p:nvSpPr>
        <p:spPr>
          <a:xfrm>
            <a:off x="1349203" y="4251948"/>
            <a:ext cx="4746797" cy="159543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54D404EA-A689-A010-FBC6-58C697BE46BB}"/>
              </a:ext>
            </a:extLst>
          </p:cNvPr>
          <p:cNvSpPr/>
          <p:nvPr/>
        </p:nvSpPr>
        <p:spPr>
          <a:xfrm>
            <a:off x="6862045" y="4247575"/>
            <a:ext cx="4746796" cy="159544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1560914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general de conversió</a:t>
            </a:r>
            <a:endParaRPr lang="ca-ES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1856232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00" b="1" noProof="0" dirty="0">
                <a:solidFill>
                  <a:srgbClr val="FFFFFF"/>
                </a:solidFill>
              </a:rPr>
              <a:t>1</a:t>
            </a:r>
            <a:endParaRPr lang="ca-ES" sz="800" noProof="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250" b="1" noProof="0" dirty="0">
                <a:solidFill>
                  <a:srgbClr val="1B2A41"/>
                </a:solidFill>
              </a:rPr>
              <a:t>Entrenar ANN/CNN</a:t>
            </a:r>
            <a:endParaRPr lang="ca-ES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2404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ca-ES" sz="1050" noProof="0" dirty="0" err="1">
                <a:solidFill>
                  <a:srgbClr val="111827"/>
                </a:solidFill>
              </a:rPr>
              <a:t>Backpropagation</a:t>
            </a:r>
            <a:r>
              <a:rPr lang="ca-ES" sz="1050" noProof="0" dirty="0">
                <a:solidFill>
                  <a:srgbClr val="111827"/>
                </a:solidFill>
              </a:rPr>
              <a:t> sobre dades etiquetades</a:t>
            </a:r>
            <a:endParaRPr lang="ca-ES" sz="1050" noProof="0" dirty="0"/>
          </a:p>
        </p:txBody>
      </p:sp>
      <p:sp>
        <p:nvSpPr>
          <p:cNvPr id="9" name="Shape 7"/>
          <p:cNvSpPr/>
          <p:nvPr/>
        </p:nvSpPr>
        <p:spPr>
          <a:xfrm>
            <a:off x="2538984" y="1993392"/>
            <a:ext cx="29260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Shape 8"/>
          <p:cNvSpPr/>
          <p:nvPr/>
        </p:nvSpPr>
        <p:spPr>
          <a:xfrm>
            <a:off x="2965704" y="1856232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1" name="Text 9"/>
          <p:cNvSpPr/>
          <p:nvPr/>
        </p:nvSpPr>
        <p:spPr>
          <a:xfrm>
            <a:off x="2965704" y="192024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00" b="1" noProof="0" dirty="0">
                <a:solidFill>
                  <a:srgbClr val="FFFFFF"/>
                </a:solidFill>
              </a:rPr>
              <a:t>2</a:t>
            </a:r>
            <a:endParaRPr lang="ca-ES" sz="800" noProof="0" dirty="0"/>
          </a:p>
        </p:txBody>
      </p:sp>
      <p:sp>
        <p:nvSpPr>
          <p:cNvPr id="12" name="Text 10"/>
          <p:cNvSpPr/>
          <p:nvPr/>
        </p:nvSpPr>
        <p:spPr>
          <a:xfrm>
            <a:off x="3395472" y="18836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250" b="1" noProof="0" dirty="0">
                <a:solidFill>
                  <a:srgbClr val="1B2A41"/>
                </a:solidFill>
              </a:rPr>
              <a:t>Extreure pesos</a:t>
            </a:r>
            <a:endParaRPr lang="ca-ES" sz="1250" noProof="0" dirty="0"/>
          </a:p>
        </p:txBody>
      </p:sp>
      <p:sp>
        <p:nvSpPr>
          <p:cNvPr id="13" name="Text 11"/>
          <p:cNvSpPr/>
          <p:nvPr/>
        </p:nvSpPr>
        <p:spPr>
          <a:xfrm>
            <a:off x="2862072" y="2404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ca-ES" sz="1050" noProof="0" dirty="0">
                <a:solidFill>
                  <a:srgbClr val="111827"/>
                </a:solidFill>
              </a:rPr>
              <a:t>Transferència de pesos i biaixos</a:t>
            </a:r>
            <a:endParaRPr lang="ca-ES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4690872" y="1993392"/>
            <a:ext cx="29260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5" name="Shape 13"/>
          <p:cNvSpPr/>
          <p:nvPr/>
        </p:nvSpPr>
        <p:spPr>
          <a:xfrm>
            <a:off x="5129784" y="1856232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E0568C"/>
          </a:solidFill>
          <a:ln w="12700">
            <a:solidFill>
              <a:srgbClr val="E0568C"/>
            </a:solidFill>
            <a:prstDash val="solid"/>
          </a:ln>
        </p:spPr>
        <p:txBody>
          <a:bodyPr/>
          <a:lstStyle/>
          <a:p>
            <a:endParaRPr lang="ca-ES" noProof="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29784" y="192024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00" b="1" noProof="0" dirty="0">
                <a:solidFill>
                  <a:srgbClr val="FFFFFF"/>
                </a:solidFill>
              </a:rPr>
              <a:t>3</a:t>
            </a:r>
            <a:endParaRPr lang="ca-ES" sz="800" noProof="0" dirty="0"/>
          </a:p>
        </p:txBody>
      </p:sp>
      <p:sp>
        <p:nvSpPr>
          <p:cNvPr id="17" name="Text 15"/>
          <p:cNvSpPr/>
          <p:nvPr/>
        </p:nvSpPr>
        <p:spPr>
          <a:xfrm>
            <a:off x="5559552" y="18836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250" b="1" noProof="0" dirty="0">
                <a:solidFill>
                  <a:srgbClr val="1B2A41"/>
                </a:solidFill>
              </a:rPr>
              <a:t>Normalitzar</a:t>
            </a:r>
            <a:endParaRPr lang="ca-ES" sz="1250" noProof="0" dirty="0"/>
          </a:p>
        </p:txBody>
      </p:sp>
      <p:sp>
        <p:nvSpPr>
          <p:cNvPr id="18" name="Text 16"/>
          <p:cNvSpPr/>
          <p:nvPr/>
        </p:nvSpPr>
        <p:spPr>
          <a:xfrm>
            <a:off x="5129784" y="2404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ca-ES" sz="1050" noProof="0" dirty="0">
                <a:solidFill>
                  <a:srgbClr val="111827"/>
                </a:solidFill>
              </a:rPr>
              <a:t>Adaptar escales i llindars</a:t>
            </a:r>
            <a:endParaRPr lang="ca-ES" sz="1050" noProof="0" dirty="0"/>
          </a:p>
        </p:txBody>
      </p:sp>
      <p:sp>
        <p:nvSpPr>
          <p:cNvPr id="19" name="Shape 17"/>
          <p:cNvSpPr/>
          <p:nvPr/>
        </p:nvSpPr>
        <p:spPr>
          <a:xfrm>
            <a:off x="6958584" y="1993392"/>
            <a:ext cx="29260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20" name="Shape 18"/>
          <p:cNvSpPr/>
          <p:nvPr/>
        </p:nvSpPr>
        <p:spPr>
          <a:xfrm>
            <a:off x="7397496" y="1856232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E0568C"/>
          </a:solidFill>
          <a:ln w="12700">
            <a:solidFill>
              <a:srgbClr val="E0568C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21" name="Text 19"/>
          <p:cNvSpPr/>
          <p:nvPr/>
        </p:nvSpPr>
        <p:spPr>
          <a:xfrm>
            <a:off x="7397496" y="192024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00" b="1" noProof="0" dirty="0">
                <a:solidFill>
                  <a:srgbClr val="FFFFFF"/>
                </a:solidFill>
              </a:rPr>
              <a:t>4</a:t>
            </a:r>
            <a:endParaRPr lang="ca-ES" sz="800" noProof="0" dirty="0"/>
          </a:p>
        </p:txBody>
      </p:sp>
      <p:sp>
        <p:nvSpPr>
          <p:cNvPr id="22" name="Text 20"/>
          <p:cNvSpPr/>
          <p:nvPr/>
        </p:nvSpPr>
        <p:spPr>
          <a:xfrm>
            <a:off x="7827264" y="18836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250" b="1" noProof="0" dirty="0">
                <a:solidFill>
                  <a:srgbClr val="1B2A41"/>
                </a:solidFill>
              </a:rPr>
              <a:t>Simular SNN</a:t>
            </a:r>
            <a:endParaRPr lang="ca-ES" sz="1250" noProof="0" dirty="0"/>
          </a:p>
        </p:txBody>
      </p:sp>
      <p:sp>
        <p:nvSpPr>
          <p:cNvPr id="23" name="Text 21"/>
          <p:cNvSpPr/>
          <p:nvPr/>
        </p:nvSpPr>
        <p:spPr>
          <a:xfrm>
            <a:off x="7397496" y="2404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ca-ES" sz="1050" noProof="0" dirty="0" err="1">
                <a:solidFill>
                  <a:srgbClr val="111827"/>
                </a:solidFill>
              </a:rPr>
              <a:t>Rate</a:t>
            </a:r>
            <a:r>
              <a:rPr lang="ca-ES" sz="1050" noProof="0" dirty="0">
                <a:solidFill>
                  <a:srgbClr val="111827"/>
                </a:solidFill>
              </a:rPr>
              <a:t> </a:t>
            </a:r>
            <a:r>
              <a:rPr lang="ca-ES" sz="1050" noProof="0" dirty="0" err="1">
                <a:solidFill>
                  <a:srgbClr val="111827"/>
                </a:solidFill>
              </a:rPr>
              <a:t>encoding</a:t>
            </a:r>
            <a:r>
              <a:rPr lang="ca-ES" sz="1050" noProof="0" dirty="0">
                <a:solidFill>
                  <a:srgbClr val="111827"/>
                </a:solidFill>
              </a:rPr>
              <a:t> + passos temporals</a:t>
            </a:r>
            <a:endParaRPr lang="ca-ES" sz="1050" noProof="0" dirty="0"/>
          </a:p>
        </p:txBody>
      </p:sp>
      <p:sp>
        <p:nvSpPr>
          <p:cNvPr id="24" name="Shape 22"/>
          <p:cNvSpPr/>
          <p:nvPr/>
        </p:nvSpPr>
        <p:spPr>
          <a:xfrm>
            <a:off x="9226296" y="1993392"/>
            <a:ext cx="29260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25" name="Shape 23"/>
          <p:cNvSpPr/>
          <p:nvPr/>
        </p:nvSpPr>
        <p:spPr>
          <a:xfrm>
            <a:off x="9665208" y="1856232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26" name="Text 24"/>
          <p:cNvSpPr/>
          <p:nvPr/>
        </p:nvSpPr>
        <p:spPr>
          <a:xfrm>
            <a:off x="9665208" y="192024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00" b="1" noProof="0" dirty="0">
                <a:solidFill>
                  <a:srgbClr val="FFFFFF"/>
                </a:solidFill>
              </a:rPr>
              <a:t>5</a:t>
            </a:r>
            <a:endParaRPr lang="ca-ES" sz="800" noProof="0" dirty="0"/>
          </a:p>
        </p:txBody>
      </p:sp>
      <p:sp>
        <p:nvSpPr>
          <p:cNvPr id="27" name="Text 25"/>
          <p:cNvSpPr/>
          <p:nvPr/>
        </p:nvSpPr>
        <p:spPr>
          <a:xfrm>
            <a:off x="10094976" y="18836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250" b="1" noProof="0" dirty="0">
                <a:solidFill>
                  <a:srgbClr val="1B2A41"/>
                </a:solidFill>
              </a:rPr>
              <a:t>Comparar</a:t>
            </a:r>
            <a:endParaRPr lang="ca-ES" sz="1250" noProof="0" dirty="0"/>
          </a:p>
        </p:txBody>
      </p:sp>
      <p:sp>
        <p:nvSpPr>
          <p:cNvPr id="28" name="Text 26"/>
          <p:cNvSpPr/>
          <p:nvPr/>
        </p:nvSpPr>
        <p:spPr>
          <a:xfrm>
            <a:off x="9665208" y="2404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ca-ES" sz="1050" noProof="0" dirty="0" err="1">
                <a:solidFill>
                  <a:srgbClr val="111827"/>
                </a:solidFill>
              </a:rPr>
              <a:t>Accuracy</a:t>
            </a:r>
            <a:r>
              <a:rPr lang="ca-ES" sz="1050" noProof="0" dirty="0">
                <a:solidFill>
                  <a:srgbClr val="111827"/>
                </a:solidFill>
              </a:rPr>
              <a:t> i matrius de confusió</a:t>
            </a:r>
            <a:endParaRPr lang="ca-ES" sz="1050" noProof="0" dirty="0"/>
          </a:p>
        </p:txBody>
      </p:sp>
      <p:sp>
        <p:nvSpPr>
          <p:cNvPr id="29" name="Shape 27"/>
          <p:cNvSpPr/>
          <p:nvPr/>
        </p:nvSpPr>
        <p:spPr>
          <a:xfrm>
            <a:off x="1235759" y="3200400"/>
            <a:ext cx="3610562" cy="300911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pic>
        <p:nvPicPr>
          <p:cNvPr id="30" name="Image 0" descr="/mnt/data/tfg_assets/crops/snn_code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508" y="3216365"/>
            <a:ext cx="3014535" cy="2899697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58368" y="6263319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750" noProof="0" dirty="0">
                <a:solidFill>
                  <a:srgbClr val="6B7280"/>
                </a:solidFill>
              </a:rPr>
              <a:t>Fragment de codi de conversió i dinàmica temporal</a:t>
            </a:r>
            <a:endParaRPr lang="ca-ES" sz="750" noProof="0" dirty="0"/>
          </a:p>
        </p:txBody>
      </p:sp>
      <p:sp>
        <p:nvSpPr>
          <p:cNvPr id="32" name="Shape 29"/>
          <p:cNvSpPr/>
          <p:nvPr/>
        </p:nvSpPr>
        <p:spPr>
          <a:xfrm>
            <a:off x="7046976" y="3075177"/>
            <a:ext cx="3044952" cy="317339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pic>
        <p:nvPicPr>
          <p:cNvPr id="33" name="Image 1" descr="/mnt/data/tfg_assets/crops/hyper_poly.png"/>
          <p:cNvPicPr>
            <a:picLocks noChangeAspect="1"/>
          </p:cNvPicPr>
          <p:nvPr/>
        </p:nvPicPr>
        <p:blipFill>
          <a:blip r:embed="rId4"/>
          <a:srcRect l="3284" b="10524"/>
          <a:stretch>
            <a:fillRect/>
          </a:stretch>
        </p:blipFill>
        <p:spPr>
          <a:xfrm>
            <a:off x="7258582" y="3157473"/>
            <a:ext cx="2621740" cy="304290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557772" y="6277847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750" noProof="0" dirty="0" err="1">
                <a:solidFill>
                  <a:srgbClr val="6B7280"/>
                </a:solidFill>
              </a:rPr>
              <a:t>Hiperparàmetres</a:t>
            </a:r>
            <a:r>
              <a:rPr lang="ca-ES" sz="750" noProof="0" dirty="0">
                <a:solidFill>
                  <a:srgbClr val="6B7280"/>
                </a:solidFill>
              </a:rPr>
              <a:t> del cas polígon</a:t>
            </a:r>
            <a:endParaRPr lang="ca-ES" sz="750" noProof="0" dirty="0"/>
          </a:p>
        </p:txBody>
      </p:sp>
      <p:sp>
        <p:nvSpPr>
          <p:cNvPr id="37" name="Text 33"/>
          <p:cNvSpPr/>
          <p:nvPr/>
        </p:nvSpPr>
        <p:spPr>
          <a:xfrm>
            <a:off x="10698480" y="6492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a-ES" sz="1200" noProof="0" dirty="0">
                <a:solidFill>
                  <a:srgbClr val="6B7280"/>
                </a:solidFill>
              </a:rPr>
              <a:t>08</a:t>
            </a:r>
            <a:endParaRPr lang="ca-ES" sz="12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913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pràctic 1: Classificació de punts dins o fora d’un polígon</a:t>
            </a:r>
            <a:endParaRPr lang="ca-ES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5" name="Shape 3"/>
          <p:cNvSpPr/>
          <p:nvPr/>
        </p:nvSpPr>
        <p:spPr>
          <a:xfrm>
            <a:off x="383100" y="1914203"/>
            <a:ext cx="3728896" cy="302981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pic>
        <p:nvPicPr>
          <p:cNvPr id="6" name="Image 0" descr="/mnt/data/tfg_assets/extracted/p38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36" y="1950779"/>
            <a:ext cx="3660646" cy="29564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5706" y="5005540"/>
            <a:ext cx="3463684" cy="19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750" noProof="0" dirty="0">
                <a:solidFill>
                  <a:srgbClr val="6B7280"/>
                </a:solidFill>
              </a:rPr>
              <a:t>Polígon generat amb MATLAB</a:t>
            </a:r>
            <a:endParaRPr lang="ca-ES" sz="750" noProof="0" dirty="0"/>
          </a:p>
        </p:txBody>
      </p:sp>
      <p:sp>
        <p:nvSpPr>
          <p:cNvPr id="8" name="Shape 5"/>
          <p:cNvSpPr/>
          <p:nvPr/>
        </p:nvSpPr>
        <p:spPr>
          <a:xfrm>
            <a:off x="4381236" y="1914202"/>
            <a:ext cx="3657600" cy="302981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pic>
        <p:nvPicPr>
          <p:cNvPr id="9" name="Image 1" descr="/mnt/data/tfg_assets/extracted/p38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54" y="1950778"/>
            <a:ext cx="3568518" cy="29564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36572" y="4995837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750" noProof="0" dirty="0">
                <a:solidFill>
                  <a:srgbClr val="6B7280"/>
                </a:solidFill>
              </a:rPr>
              <a:t>Dades generades: classe 0/1</a:t>
            </a:r>
            <a:endParaRPr lang="ca-ES" sz="750" noProof="0" dirty="0"/>
          </a:p>
        </p:txBody>
      </p:sp>
      <p:sp>
        <p:nvSpPr>
          <p:cNvPr id="11" name="Text 7"/>
          <p:cNvSpPr/>
          <p:nvPr/>
        </p:nvSpPr>
        <p:spPr>
          <a:xfrm>
            <a:off x="8732520" y="4506354"/>
            <a:ext cx="246888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ca-ES" sz="1300" noProof="0" dirty="0">
                <a:solidFill>
                  <a:srgbClr val="111827"/>
                </a:solidFill>
              </a:rPr>
              <a:t>Dades pseudoaleatòries generades en MATLAB.</a:t>
            </a:r>
            <a:endParaRPr lang="ca-ES" sz="1300" noProof="0" dirty="0"/>
          </a:p>
          <a:p>
            <a:pPr marL="152400" indent="-152400">
              <a:buSzPct val="100000"/>
              <a:buChar char="•"/>
            </a:pPr>
            <a:r>
              <a:rPr lang="ca-ES" sz="1300" noProof="0" dirty="0">
                <a:solidFill>
                  <a:srgbClr val="111827"/>
                </a:solidFill>
              </a:rPr>
              <a:t>Entrada: coordenades normalitzades </a:t>
            </a:r>
            <a:r>
              <a:rPr lang="ca-ES" sz="1300" noProof="0" dirty="0" err="1">
                <a:solidFill>
                  <a:srgbClr val="111827"/>
                </a:solidFill>
              </a:rPr>
              <a:t>x,y</a:t>
            </a:r>
            <a:r>
              <a:rPr lang="ca-ES" sz="1300" noProof="0" dirty="0">
                <a:solidFill>
                  <a:srgbClr val="111827"/>
                </a:solidFill>
              </a:rPr>
              <a:t>.</a:t>
            </a:r>
            <a:endParaRPr lang="ca-ES" sz="1300" noProof="0" dirty="0"/>
          </a:p>
          <a:p>
            <a:pPr marL="152400" indent="-152400">
              <a:buSzPct val="100000"/>
              <a:buChar char="•"/>
            </a:pPr>
            <a:r>
              <a:rPr lang="ca-ES" sz="1300" noProof="0" dirty="0">
                <a:solidFill>
                  <a:srgbClr val="111827"/>
                </a:solidFill>
              </a:rPr>
              <a:t>Sortida: 0 fora del polígon, 1 dins.</a:t>
            </a:r>
            <a:endParaRPr lang="ca-ES" sz="1300" noProof="0" dirty="0"/>
          </a:p>
          <a:p>
            <a:pPr marL="152400" indent="-152400">
              <a:buSzPct val="100000"/>
              <a:buChar char="•"/>
            </a:pPr>
            <a:r>
              <a:rPr lang="ca-ES" sz="1300" noProof="0" dirty="0">
                <a:solidFill>
                  <a:srgbClr val="111827"/>
                </a:solidFill>
              </a:rPr>
              <a:t>Model base: MLP 2 → 6 → 1 amb </a:t>
            </a:r>
            <a:r>
              <a:rPr lang="ca-ES" sz="1300" noProof="0" dirty="0" err="1">
                <a:solidFill>
                  <a:srgbClr val="111827"/>
                </a:solidFill>
              </a:rPr>
              <a:t>ReLU</a:t>
            </a:r>
            <a:r>
              <a:rPr lang="ca-ES" sz="1300" noProof="0" dirty="0">
                <a:solidFill>
                  <a:srgbClr val="111827"/>
                </a:solidFill>
              </a:rPr>
              <a:t>.</a:t>
            </a:r>
            <a:endParaRPr lang="ca-ES" sz="1300" noProof="0" dirty="0"/>
          </a:p>
        </p:txBody>
      </p:sp>
      <p:sp>
        <p:nvSpPr>
          <p:cNvPr id="14" name="Text 10"/>
          <p:cNvSpPr/>
          <p:nvPr/>
        </p:nvSpPr>
        <p:spPr>
          <a:xfrm>
            <a:off x="10698480" y="6492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a-ES" sz="1200" noProof="0" dirty="0">
                <a:solidFill>
                  <a:srgbClr val="6B7280"/>
                </a:solidFill>
              </a:rPr>
              <a:t>09</a:t>
            </a:r>
            <a:endParaRPr lang="ca-ES" sz="1200" noProof="0" dirty="0"/>
          </a:p>
        </p:txBody>
      </p:sp>
      <p:pic>
        <p:nvPicPr>
          <p:cNvPr id="12" name="Imatge 11" descr="Imatge que conté diagrama, cercle, línia, captura de pantalla&#10;&#10;Pot ser que el contingut generat per IA no sigui correcte.">
            <a:extLst>
              <a:ext uri="{FF2B5EF4-FFF2-40B4-BE49-F238E27FC236}">
                <a16:creationId xmlns:a16="http://schemas.microsoft.com/office/drawing/2014/main" id="{D0EC216E-0E16-A00C-E087-F1065193DF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484" y="1124376"/>
            <a:ext cx="3142952" cy="3286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Resultats del cas polígon</a:t>
            </a:r>
            <a:endParaRPr lang="ca-ES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1792224"/>
            <a:ext cx="4251960" cy="3063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pic>
        <p:nvPicPr>
          <p:cNvPr id="6" name="Image 0" descr="/mnt/data/tfg_assets/extracted/p44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75" y="1828800"/>
            <a:ext cx="3737610" cy="2990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4882896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750" noProof="0" dirty="0">
                <a:solidFill>
                  <a:srgbClr val="6B7280"/>
                </a:solidFill>
              </a:rPr>
              <a:t>Matriu de confusió ANN / MLP</a:t>
            </a:r>
            <a:endParaRPr lang="ca-ES" sz="750" noProof="0" dirty="0"/>
          </a:p>
        </p:txBody>
      </p:sp>
      <p:sp>
        <p:nvSpPr>
          <p:cNvPr id="8" name="Shape 5"/>
          <p:cNvSpPr/>
          <p:nvPr/>
        </p:nvSpPr>
        <p:spPr>
          <a:xfrm>
            <a:off x="6446520" y="1792224"/>
            <a:ext cx="4251960" cy="3063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pic>
        <p:nvPicPr>
          <p:cNvPr id="9" name="Image 1" descr="/mnt/data/tfg_assets/extracted/p44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695" y="1828800"/>
            <a:ext cx="3737610" cy="29900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46520" y="4882896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750" noProof="0" dirty="0">
                <a:solidFill>
                  <a:srgbClr val="6B7280"/>
                </a:solidFill>
              </a:rPr>
              <a:t>Matriu de confusió SNN</a:t>
            </a:r>
            <a:endParaRPr lang="ca-ES" sz="750" noProof="0" dirty="0"/>
          </a:p>
        </p:txBody>
      </p:sp>
      <p:sp>
        <p:nvSpPr>
          <p:cNvPr id="11" name="Text 7"/>
          <p:cNvSpPr/>
          <p:nvPr/>
        </p:nvSpPr>
        <p:spPr>
          <a:xfrm>
            <a:off x="2103120" y="52303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2500" b="1" noProof="0" dirty="0">
                <a:solidFill>
                  <a:srgbClr val="1B2A41"/>
                </a:solidFill>
              </a:rPr>
              <a:t>ANN: 93,0%  →  SNN: 90,1%</a:t>
            </a:r>
            <a:endParaRPr lang="ca-ES" sz="2500" noProof="0" dirty="0"/>
          </a:p>
        </p:txBody>
      </p:sp>
      <p:sp>
        <p:nvSpPr>
          <p:cNvPr id="12" name="Text 8"/>
          <p:cNvSpPr/>
          <p:nvPr/>
        </p:nvSpPr>
        <p:spPr>
          <a:xfrm>
            <a:off x="2057400" y="575157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400" noProof="0" dirty="0">
                <a:solidFill>
                  <a:srgbClr val="111827"/>
                </a:solidFill>
              </a:rPr>
              <a:t>Pèrdua aproximada: 2,9 punts percentuals. Errors principalment prop de la frontera de decisió.</a:t>
            </a:r>
            <a:endParaRPr lang="ca-ES" sz="1400" noProof="0" dirty="0"/>
          </a:p>
        </p:txBody>
      </p:sp>
      <p:sp>
        <p:nvSpPr>
          <p:cNvPr id="15" name="Text 11"/>
          <p:cNvSpPr/>
          <p:nvPr/>
        </p:nvSpPr>
        <p:spPr>
          <a:xfrm>
            <a:off x="10698480" y="6492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a-ES" sz="1200" noProof="0" dirty="0">
                <a:solidFill>
                  <a:srgbClr val="6B7280"/>
                </a:solidFill>
              </a:rPr>
              <a:t>10</a:t>
            </a:r>
            <a:endParaRPr lang="ca-ES" sz="12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7302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pràctic 2: Implementació pel </a:t>
            </a:r>
            <a:r>
              <a:rPr lang="ca-ES" sz="2400" b="1" noProof="0" dirty="0" err="1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MNIST</a:t>
            </a:r>
            <a:endParaRPr lang="ca-ES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5" name="Shape 3"/>
          <p:cNvSpPr/>
          <p:nvPr/>
        </p:nvSpPr>
        <p:spPr>
          <a:xfrm>
            <a:off x="777239" y="1962917"/>
            <a:ext cx="5984290" cy="193242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pic>
        <p:nvPicPr>
          <p:cNvPr id="6" name="Image 0" descr="/mnt/data/tfg_assets/extracted/p20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5" y="2076027"/>
            <a:ext cx="5884555" cy="17351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4824" y="393530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750" noProof="0" dirty="0">
                <a:solidFill>
                  <a:srgbClr val="6B7280"/>
                </a:solidFill>
              </a:rPr>
              <a:t>Estructura CNN</a:t>
            </a:r>
            <a:endParaRPr lang="ca-ES" sz="750" noProof="0" dirty="0"/>
          </a:p>
        </p:txBody>
      </p:sp>
      <p:sp>
        <p:nvSpPr>
          <p:cNvPr id="11" name="Text 7"/>
          <p:cNvSpPr/>
          <p:nvPr/>
        </p:nvSpPr>
        <p:spPr>
          <a:xfrm>
            <a:off x="1369084" y="4604140"/>
            <a:ext cx="480060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ca-ES" sz="1400" noProof="0" dirty="0" err="1">
                <a:solidFill>
                  <a:srgbClr val="111827"/>
                </a:solidFill>
              </a:rPr>
              <a:t>Dataset</a:t>
            </a:r>
            <a:r>
              <a:rPr lang="ca-ES" sz="1400" noProof="0" dirty="0">
                <a:solidFill>
                  <a:srgbClr val="111827"/>
                </a:solidFill>
              </a:rPr>
              <a:t> de dígits manuscrits 28×28 en escala de grisos.</a:t>
            </a:r>
            <a:endParaRPr lang="ca-ES" sz="1400" noProof="0" dirty="0"/>
          </a:p>
          <a:p>
            <a:pPr marL="152400" indent="-152400">
              <a:buSzPct val="100000"/>
              <a:buChar char="•"/>
            </a:pPr>
            <a:r>
              <a:rPr lang="ca-ES" sz="1400" noProof="0" dirty="0">
                <a:solidFill>
                  <a:srgbClr val="111827"/>
                </a:solidFill>
              </a:rPr>
              <a:t>Model de partida: CNN amb dos blocs </a:t>
            </a:r>
            <a:r>
              <a:rPr lang="ca-ES" sz="1400" noProof="0" dirty="0" err="1">
                <a:solidFill>
                  <a:srgbClr val="111827"/>
                </a:solidFill>
              </a:rPr>
              <a:t>convolucionals</a:t>
            </a:r>
            <a:r>
              <a:rPr lang="ca-ES" sz="1400" noProof="0" dirty="0">
                <a:solidFill>
                  <a:srgbClr val="111827"/>
                </a:solidFill>
              </a:rPr>
              <a:t> i classificador </a:t>
            </a:r>
            <a:r>
              <a:rPr lang="ca-ES" sz="1400" noProof="0" dirty="0" err="1">
                <a:solidFill>
                  <a:srgbClr val="111827"/>
                </a:solidFill>
              </a:rPr>
              <a:t>fully</a:t>
            </a:r>
            <a:r>
              <a:rPr lang="ca-ES" sz="1400" noProof="0" dirty="0">
                <a:solidFill>
                  <a:srgbClr val="111827"/>
                </a:solidFill>
              </a:rPr>
              <a:t> </a:t>
            </a:r>
            <a:r>
              <a:rPr lang="ca-ES" sz="1400" noProof="0" dirty="0" err="1">
                <a:solidFill>
                  <a:srgbClr val="111827"/>
                </a:solidFill>
              </a:rPr>
              <a:t>connected</a:t>
            </a:r>
            <a:r>
              <a:rPr lang="ca-ES" sz="1400" noProof="0" dirty="0">
                <a:solidFill>
                  <a:srgbClr val="111827"/>
                </a:solidFill>
              </a:rPr>
              <a:t>.</a:t>
            </a:r>
            <a:endParaRPr lang="ca-ES" sz="1400" noProof="0" dirty="0"/>
          </a:p>
          <a:p>
            <a:pPr marL="152400" indent="-152400">
              <a:buSzPct val="100000"/>
              <a:buChar char="•"/>
            </a:pPr>
            <a:r>
              <a:rPr lang="ca-ES" sz="1400" noProof="0" dirty="0">
                <a:solidFill>
                  <a:srgbClr val="111827"/>
                </a:solidFill>
              </a:rPr>
              <a:t>Conversió a SNN amb el mateix principi: </a:t>
            </a:r>
            <a:r>
              <a:rPr lang="ca-ES" sz="1400" noProof="0" dirty="0" err="1">
                <a:solidFill>
                  <a:srgbClr val="111827"/>
                </a:solidFill>
              </a:rPr>
              <a:t>rate</a:t>
            </a:r>
            <a:r>
              <a:rPr lang="ca-ES" sz="1400" noProof="0" dirty="0">
                <a:solidFill>
                  <a:srgbClr val="111827"/>
                </a:solidFill>
              </a:rPr>
              <a:t> </a:t>
            </a:r>
            <a:r>
              <a:rPr lang="ca-ES" sz="1400" noProof="0" dirty="0" err="1">
                <a:solidFill>
                  <a:srgbClr val="111827"/>
                </a:solidFill>
              </a:rPr>
              <a:t>encoding</a:t>
            </a:r>
            <a:r>
              <a:rPr lang="ca-ES" sz="1400" noProof="0" dirty="0">
                <a:solidFill>
                  <a:srgbClr val="111827"/>
                </a:solidFill>
              </a:rPr>
              <a:t>, normalització i 200 passos temporals.</a:t>
            </a:r>
            <a:endParaRPr lang="ca-ES" sz="1400" noProof="0" dirty="0"/>
          </a:p>
        </p:txBody>
      </p:sp>
      <p:sp>
        <p:nvSpPr>
          <p:cNvPr id="14" name="Text 10"/>
          <p:cNvSpPr/>
          <p:nvPr/>
        </p:nvSpPr>
        <p:spPr>
          <a:xfrm>
            <a:off x="10698480" y="6492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a-ES" sz="1200" noProof="0" dirty="0"/>
              <a:t>11</a:t>
            </a:r>
          </a:p>
        </p:txBody>
      </p:sp>
      <p:pic>
        <p:nvPicPr>
          <p:cNvPr id="1026" name="Picture 2" descr="mnist | TensorFlow Datasets">
            <a:extLst>
              <a:ext uri="{FF2B5EF4-FFF2-40B4-BE49-F238E27FC236}">
                <a16:creationId xmlns:a16="http://schemas.microsoft.com/office/drawing/2014/main" id="{618A3D7E-85FF-85D7-3EF6-37EA23DD8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919" y="2152338"/>
            <a:ext cx="3914842" cy="3914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791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Resultats MNIST</a:t>
            </a:r>
            <a:endParaRPr lang="ca-ES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5" name="Shape 3"/>
          <p:cNvSpPr/>
          <p:nvPr/>
        </p:nvSpPr>
        <p:spPr>
          <a:xfrm>
            <a:off x="685800" y="1429512"/>
            <a:ext cx="4892040" cy="3977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pic>
        <p:nvPicPr>
          <p:cNvPr id="6" name="Image 0" descr="/mnt/data/tfg_assets/extracted/p50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466088"/>
            <a:ext cx="4462272" cy="3904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434584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750" noProof="0" dirty="0">
                <a:solidFill>
                  <a:srgbClr val="6B7280"/>
                </a:solidFill>
              </a:rPr>
              <a:t>Matriu de confusió CNN</a:t>
            </a:r>
            <a:endParaRPr lang="ca-ES" sz="750" noProof="0" dirty="0"/>
          </a:p>
        </p:txBody>
      </p:sp>
      <p:sp>
        <p:nvSpPr>
          <p:cNvPr id="8" name="Shape 5"/>
          <p:cNvSpPr/>
          <p:nvPr/>
        </p:nvSpPr>
        <p:spPr>
          <a:xfrm>
            <a:off x="6400800" y="1429512"/>
            <a:ext cx="4892040" cy="3977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pic>
        <p:nvPicPr>
          <p:cNvPr id="9" name="Image 1" descr="/mnt/data/tfg_assets/extracted/p51_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1466088"/>
            <a:ext cx="4462272" cy="3904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434584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750" noProof="0" dirty="0">
                <a:solidFill>
                  <a:srgbClr val="6B7280"/>
                </a:solidFill>
              </a:rPr>
              <a:t>Matriu de confusió SNN</a:t>
            </a:r>
            <a:endParaRPr lang="ca-ES" sz="750" noProof="0" dirty="0"/>
          </a:p>
        </p:txBody>
      </p:sp>
      <p:sp>
        <p:nvSpPr>
          <p:cNvPr id="11" name="Text 7"/>
          <p:cNvSpPr/>
          <p:nvPr/>
        </p:nvSpPr>
        <p:spPr>
          <a:xfrm>
            <a:off x="1920240" y="56083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2400" b="1" noProof="0" dirty="0">
                <a:solidFill>
                  <a:srgbClr val="1B2A41"/>
                </a:solidFill>
              </a:rPr>
              <a:t>CNN: 99,06%  →  SNN: 93,19%</a:t>
            </a:r>
            <a:endParaRPr lang="ca-ES" sz="2400" noProof="0" dirty="0"/>
          </a:p>
        </p:txBody>
      </p:sp>
      <p:sp>
        <p:nvSpPr>
          <p:cNvPr id="14" name="Text 10"/>
          <p:cNvSpPr/>
          <p:nvPr/>
        </p:nvSpPr>
        <p:spPr>
          <a:xfrm>
            <a:off x="10698480" y="6492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a-ES" sz="1200" noProof="0" dirty="0">
                <a:solidFill>
                  <a:srgbClr val="6B7280"/>
                </a:solidFill>
              </a:rPr>
              <a:t>12</a:t>
            </a:r>
            <a:endParaRPr lang="ca-ES" sz="12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791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Resultats</a:t>
            </a:r>
            <a:endParaRPr lang="ca-ES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5" name="Text 3"/>
          <p:cNvSpPr/>
          <p:nvPr/>
        </p:nvSpPr>
        <p:spPr>
          <a:xfrm>
            <a:off x="1005840" y="1685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200" b="1" noProof="0" dirty="0">
                <a:solidFill>
                  <a:srgbClr val="6B7280"/>
                </a:solidFill>
              </a:rPr>
              <a:t>Cas</a:t>
            </a:r>
            <a:endParaRPr lang="ca-ES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3657600" y="16855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200" b="1" noProof="0" dirty="0">
                <a:solidFill>
                  <a:srgbClr val="6B7280"/>
                </a:solidFill>
              </a:rPr>
              <a:t>Model ANN/CNN</a:t>
            </a:r>
            <a:endParaRPr lang="ca-ES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0" y="16855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200" b="1" noProof="0" dirty="0">
                <a:solidFill>
                  <a:srgbClr val="6B7280"/>
                </a:solidFill>
              </a:rPr>
              <a:t>Model SNN</a:t>
            </a:r>
            <a:endParaRPr lang="ca-ES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9144000" y="16855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200" b="1" noProof="0" dirty="0">
                <a:solidFill>
                  <a:srgbClr val="6B7280"/>
                </a:solidFill>
              </a:rPr>
              <a:t>Pèrdua</a:t>
            </a:r>
            <a:endParaRPr lang="ca-ES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1005840" y="2234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000" b="1" noProof="0" dirty="0">
                <a:solidFill>
                  <a:srgbClr val="1B2A41"/>
                </a:solidFill>
              </a:rPr>
              <a:t>Polígon</a:t>
            </a:r>
            <a:endParaRPr lang="ca-E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3657600" y="2234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000" b="1" noProof="0" dirty="0">
                <a:solidFill>
                  <a:srgbClr val="2F80ED"/>
                </a:solidFill>
              </a:rPr>
              <a:t>93,0%</a:t>
            </a:r>
            <a:endParaRPr lang="ca-ES" sz="2000" noProof="0" dirty="0"/>
          </a:p>
        </p:txBody>
      </p:sp>
      <p:sp>
        <p:nvSpPr>
          <p:cNvPr id="11" name="Text 9"/>
          <p:cNvSpPr/>
          <p:nvPr/>
        </p:nvSpPr>
        <p:spPr>
          <a:xfrm>
            <a:off x="6400800" y="2234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000" b="1" noProof="0" dirty="0">
                <a:solidFill>
                  <a:srgbClr val="E0568C"/>
                </a:solidFill>
              </a:rPr>
              <a:t>90,1%</a:t>
            </a:r>
            <a:endParaRPr lang="ca-ES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9144000" y="2234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000" b="1" noProof="0" dirty="0">
                <a:solidFill>
                  <a:srgbClr val="111827"/>
                </a:solidFill>
              </a:rPr>
              <a:t>2,9 </a:t>
            </a:r>
            <a:r>
              <a:rPr lang="ca-ES" sz="2000" b="1" noProof="0" dirty="0" err="1">
                <a:solidFill>
                  <a:srgbClr val="111827"/>
                </a:solidFill>
              </a:rPr>
              <a:t>p.p</a:t>
            </a:r>
            <a:r>
              <a:rPr lang="ca-ES" sz="2000" b="1" noProof="0" dirty="0">
                <a:solidFill>
                  <a:srgbClr val="111827"/>
                </a:solidFill>
              </a:rPr>
              <a:t>.</a:t>
            </a:r>
            <a:endParaRPr lang="ca-ES" sz="2000" noProof="0" dirty="0"/>
          </a:p>
        </p:txBody>
      </p:sp>
      <p:sp>
        <p:nvSpPr>
          <p:cNvPr id="13" name="Shape 11"/>
          <p:cNvSpPr/>
          <p:nvPr/>
        </p:nvSpPr>
        <p:spPr>
          <a:xfrm>
            <a:off x="960120" y="2764536"/>
            <a:ext cx="9966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Text 12"/>
          <p:cNvSpPr/>
          <p:nvPr/>
        </p:nvSpPr>
        <p:spPr>
          <a:xfrm>
            <a:off x="1005840" y="31485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000" b="1" noProof="0" dirty="0">
                <a:solidFill>
                  <a:srgbClr val="1B2A41"/>
                </a:solidFill>
              </a:rPr>
              <a:t>MNIST</a:t>
            </a:r>
            <a:endParaRPr lang="ca-ES" sz="2000" noProof="0" dirty="0"/>
          </a:p>
        </p:txBody>
      </p:sp>
      <p:sp>
        <p:nvSpPr>
          <p:cNvPr id="15" name="Text 13"/>
          <p:cNvSpPr/>
          <p:nvPr/>
        </p:nvSpPr>
        <p:spPr>
          <a:xfrm>
            <a:off x="3657600" y="31485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000" b="1" noProof="0" dirty="0">
                <a:solidFill>
                  <a:srgbClr val="2F80ED"/>
                </a:solidFill>
              </a:rPr>
              <a:t>99,06%</a:t>
            </a:r>
            <a:endParaRPr lang="ca-E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0" y="31485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000" b="1" noProof="0" dirty="0">
                <a:solidFill>
                  <a:srgbClr val="E0568C"/>
                </a:solidFill>
              </a:rPr>
              <a:t>93,19%</a:t>
            </a:r>
            <a:endParaRPr lang="ca-ES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9144000" y="31485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000" b="1" noProof="0" dirty="0">
                <a:solidFill>
                  <a:srgbClr val="111827"/>
                </a:solidFill>
              </a:rPr>
              <a:t>5,87 </a:t>
            </a:r>
            <a:r>
              <a:rPr lang="ca-ES" sz="2000" b="1" noProof="0" dirty="0" err="1">
                <a:solidFill>
                  <a:srgbClr val="111827"/>
                </a:solidFill>
              </a:rPr>
              <a:t>p.p</a:t>
            </a:r>
            <a:r>
              <a:rPr lang="ca-ES" sz="2000" b="1" noProof="0" dirty="0">
                <a:solidFill>
                  <a:srgbClr val="111827"/>
                </a:solidFill>
              </a:rPr>
              <a:t>.</a:t>
            </a:r>
            <a:endParaRPr lang="ca-ES" sz="2000" noProof="0" dirty="0"/>
          </a:p>
        </p:txBody>
      </p:sp>
      <p:sp>
        <p:nvSpPr>
          <p:cNvPr id="18" name="Shape 16"/>
          <p:cNvSpPr/>
          <p:nvPr/>
        </p:nvSpPr>
        <p:spPr>
          <a:xfrm>
            <a:off x="960120" y="3678936"/>
            <a:ext cx="9966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19" name="Text 17"/>
          <p:cNvSpPr/>
          <p:nvPr/>
        </p:nvSpPr>
        <p:spPr>
          <a:xfrm>
            <a:off x="1097280" y="4337304"/>
            <a:ext cx="97840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ca-ES" sz="1500" noProof="0" dirty="0">
                <a:solidFill>
                  <a:srgbClr val="111827"/>
                </a:solidFill>
              </a:rPr>
              <a:t>La conversió ANN→SNN és viable i conserva una part important del comportament original.</a:t>
            </a:r>
            <a:endParaRPr lang="ca-ES" sz="1500" noProof="0" dirty="0"/>
          </a:p>
          <a:p>
            <a:pPr marL="152400" indent="-152400">
              <a:buSzPct val="100000"/>
              <a:buChar char="•"/>
            </a:pPr>
            <a:r>
              <a:rPr lang="ca-ES" sz="1500" noProof="0" dirty="0">
                <a:solidFill>
                  <a:srgbClr val="111827"/>
                </a:solidFill>
              </a:rPr>
              <a:t>La pèrdua de precisió augmenta quan el problema és més complex.</a:t>
            </a:r>
            <a:endParaRPr lang="ca-ES" sz="1500" noProof="0" dirty="0"/>
          </a:p>
          <a:p>
            <a:pPr marL="152400" indent="-152400">
              <a:buSzPct val="100000"/>
              <a:buChar char="•"/>
            </a:pPr>
            <a:r>
              <a:rPr lang="ca-ES" sz="1500" noProof="0" dirty="0">
                <a:solidFill>
                  <a:srgbClr val="111827"/>
                </a:solidFill>
              </a:rPr>
              <a:t>La precisió podria millorar amb </a:t>
            </a:r>
            <a:r>
              <a:rPr lang="ca-ES" sz="1500" noProof="0" dirty="0" err="1">
                <a:solidFill>
                  <a:srgbClr val="111827"/>
                </a:solidFill>
              </a:rPr>
              <a:t>fine-tuning</a:t>
            </a:r>
            <a:r>
              <a:rPr lang="ca-ES" sz="1500" noProof="0" dirty="0">
                <a:solidFill>
                  <a:srgbClr val="111827"/>
                </a:solidFill>
              </a:rPr>
              <a:t> específic de la SNN.</a:t>
            </a:r>
            <a:endParaRPr lang="ca-ES" sz="1500" noProof="0" dirty="0"/>
          </a:p>
          <a:p>
            <a:pPr marL="152400" indent="-152400">
              <a:buSzPct val="100000"/>
              <a:buChar char="•"/>
            </a:pPr>
            <a:r>
              <a:rPr lang="ca-ES" sz="1500" noProof="0" dirty="0">
                <a:solidFill>
                  <a:srgbClr val="111827"/>
                </a:solidFill>
              </a:rPr>
              <a:t>La comparació energètica real queda pendent de hardware </a:t>
            </a:r>
            <a:r>
              <a:rPr lang="ca-ES" sz="1500" noProof="0" dirty="0" err="1">
                <a:solidFill>
                  <a:srgbClr val="111827"/>
                </a:solidFill>
              </a:rPr>
              <a:t>neuromòrfic</a:t>
            </a:r>
            <a:r>
              <a:rPr lang="ca-ES" sz="1500" noProof="0" dirty="0">
                <a:solidFill>
                  <a:srgbClr val="111827"/>
                </a:solidFill>
              </a:rPr>
              <a:t>.</a:t>
            </a:r>
            <a:endParaRPr lang="ca-ES" sz="1500" noProof="0" dirty="0"/>
          </a:p>
        </p:txBody>
      </p:sp>
      <p:sp>
        <p:nvSpPr>
          <p:cNvPr id="22" name="Text 20"/>
          <p:cNvSpPr/>
          <p:nvPr/>
        </p:nvSpPr>
        <p:spPr>
          <a:xfrm>
            <a:off x="10698480" y="6492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a-ES" sz="1200" noProof="0" dirty="0">
                <a:solidFill>
                  <a:srgbClr val="6B7280"/>
                </a:solidFill>
              </a:rPr>
              <a:t>13</a:t>
            </a:r>
            <a:endParaRPr lang="ca-ES" sz="12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71501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400" b="1" dirty="0"/>
              <a:t>Pressupost i impacte ambiental i social</a:t>
            </a:r>
            <a:endParaRPr lang="ca-ES" sz="2400" b="1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5" name="Text 3"/>
          <p:cNvSpPr/>
          <p:nvPr/>
        </p:nvSpPr>
        <p:spPr>
          <a:xfrm>
            <a:off x="533401" y="1120140"/>
            <a:ext cx="548640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GB" sz="1600" b="1" dirty="0" err="1"/>
              <a:t>Estimació</a:t>
            </a:r>
            <a:r>
              <a:rPr lang="en-GB" sz="1600" b="1" dirty="0"/>
              <a:t> de </a:t>
            </a:r>
            <a:r>
              <a:rPr lang="en-GB" sz="1600" b="1" dirty="0" err="1"/>
              <a:t>consum</a:t>
            </a:r>
            <a:r>
              <a:rPr lang="en-GB" sz="1600" b="1" dirty="0"/>
              <a:t> </a:t>
            </a:r>
            <a:r>
              <a:rPr lang="en-GB" sz="1600" b="1" dirty="0" err="1"/>
              <a:t>i</a:t>
            </a:r>
            <a:r>
              <a:rPr lang="en-GB" sz="1600" b="1" dirty="0"/>
              <a:t> cost </a:t>
            </a:r>
            <a:r>
              <a:rPr lang="en-GB" sz="1600" b="1" dirty="0" err="1"/>
              <a:t>energètic</a:t>
            </a:r>
            <a:r>
              <a:rPr lang="en-GB" sz="1600" b="1" dirty="0"/>
              <a:t> annual</a:t>
            </a:r>
          </a:p>
          <a:p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ChatGPT: 318 GWh/any → 26,6 M€/any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Gemini: 216 GWh/any → 18,0 M€/any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Total </a:t>
            </a:r>
            <a:r>
              <a:rPr lang="en-GB" sz="1600" dirty="0" err="1"/>
              <a:t>considerat</a:t>
            </a:r>
            <a:r>
              <a:rPr lang="en-GB" sz="1600" dirty="0"/>
              <a:t>: </a:t>
            </a:r>
            <a:r>
              <a:rPr lang="en-GB" sz="1600" b="1" dirty="0"/>
              <a:t>534 GWh/any</a:t>
            </a:r>
            <a:r>
              <a:rPr lang="en-GB" sz="1600" dirty="0"/>
              <a:t> i </a:t>
            </a:r>
            <a:r>
              <a:rPr lang="en-GB" sz="1600" b="1" dirty="0"/>
              <a:t>45,2 M€/any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66.000 </a:t>
            </a:r>
            <a:r>
              <a:rPr lang="en-GB" sz="1600" dirty="0" err="1"/>
              <a:t>milions</a:t>
            </a:r>
            <a:r>
              <a:rPr lang="en-GB" sz="1600" dirty="0"/>
              <a:t> de litres </a:t>
            </a:r>
            <a:r>
              <a:rPr lang="en-GB" sz="1600" dirty="0" err="1"/>
              <a:t>d’aigua</a:t>
            </a:r>
            <a:r>
              <a:rPr lang="en-GB" sz="1600" dirty="0"/>
              <a:t>/any per </a:t>
            </a:r>
            <a:r>
              <a:rPr lang="en-GB" sz="1600" dirty="0" err="1"/>
              <a:t>refrigeració</a:t>
            </a: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b="1" dirty="0"/>
          </a:p>
          <a:p>
            <a:r>
              <a:rPr lang="en-GB" sz="1600" b="1" dirty="0" err="1"/>
              <a:t>Estalvis</a:t>
            </a:r>
            <a:r>
              <a:rPr lang="en-GB" sz="1600" b="1" dirty="0"/>
              <a:t>:</a:t>
            </a:r>
          </a:p>
        </p:txBody>
      </p:sp>
      <p:sp>
        <p:nvSpPr>
          <p:cNvPr id="11" name="Text 8"/>
          <p:cNvSpPr/>
          <p:nvPr/>
        </p:nvSpPr>
        <p:spPr>
          <a:xfrm>
            <a:off x="10698480" y="6492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a-ES" sz="1200" noProof="0" dirty="0">
                <a:solidFill>
                  <a:srgbClr val="6B7280"/>
                </a:solidFill>
              </a:rPr>
              <a:t>14</a:t>
            </a:r>
            <a:endParaRPr lang="ca-ES" sz="1200" noProof="0" dirty="0"/>
          </a:p>
        </p:txBody>
      </p:sp>
      <p:sp>
        <p:nvSpPr>
          <p:cNvPr id="3" name="Rectangle: cantonades arrodonides 2">
            <a:extLst>
              <a:ext uri="{FF2B5EF4-FFF2-40B4-BE49-F238E27FC236}">
                <a16:creationId xmlns:a16="http://schemas.microsoft.com/office/drawing/2014/main" id="{C9616007-C347-0274-6563-144E5078AC61}"/>
              </a:ext>
            </a:extLst>
          </p:cNvPr>
          <p:cNvSpPr/>
          <p:nvPr/>
        </p:nvSpPr>
        <p:spPr>
          <a:xfrm>
            <a:off x="847135" y="4085030"/>
            <a:ext cx="2684341" cy="151821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106,8–267 GWh/any</a:t>
            </a:r>
          </a:p>
        </p:txBody>
      </p:sp>
      <p:sp>
        <p:nvSpPr>
          <p:cNvPr id="6" name="Rectangle: cantonades arrodonides 5">
            <a:extLst>
              <a:ext uri="{FF2B5EF4-FFF2-40B4-BE49-F238E27FC236}">
                <a16:creationId xmlns:a16="http://schemas.microsoft.com/office/drawing/2014/main" id="{665A170F-41FE-32BA-6B37-8A0CB270173C}"/>
              </a:ext>
            </a:extLst>
          </p:cNvPr>
          <p:cNvSpPr/>
          <p:nvPr/>
        </p:nvSpPr>
        <p:spPr>
          <a:xfrm>
            <a:off x="4763815" y="4085030"/>
            <a:ext cx="2684341" cy="1518218"/>
          </a:xfrm>
          <a:prstGeom prst="roundRect">
            <a:avLst/>
          </a:prstGeom>
          <a:solidFill>
            <a:srgbClr val="E056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8,9–22,3 M€/any</a:t>
            </a:r>
          </a:p>
        </p:txBody>
      </p:sp>
      <p:sp>
        <p:nvSpPr>
          <p:cNvPr id="7" name="Rectangle: cantonades arrodonides 6">
            <a:extLst>
              <a:ext uri="{FF2B5EF4-FFF2-40B4-BE49-F238E27FC236}">
                <a16:creationId xmlns:a16="http://schemas.microsoft.com/office/drawing/2014/main" id="{A9CBAE31-0513-0062-7A13-F9256103DE71}"/>
              </a:ext>
            </a:extLst>
          </p:cNvPr>
          <p:cNvSpPr/>
          <p:nvPr/>
        </p:nvSpPr>
        <p:spPr>
          <a:xfrm>
            <a:off x="8974258" y="3257342"/>
            <a:ext cx="2684341" cy="151821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27.768-69.420 tones de CO₂/</a:t>
            </a:r>
            <a:r>
              <a:rPr lang="es-ES" b="1" dirty="0" err="1"/>
              <a:t>any</a:t>
            </a:r>
            <a:endParaRPr lang="en-GB" b="1" dirty="0"/>
          </a:p>
        </p:txBody>
      </p:sp>
      <p:cxnSp>
        <p:nvCxnSpPr>
          <p:cNvPr id="9" name="Connector de fletxa recta 8">
            <a:extLst>
              <a:ext uri="{FF2B5EF4-FFF2-40B4-BE49-F238E27FC236}">
                <a16:creationId xmlns:a16="http://schemas.microsoft.com/office/drawing/2014/main" id="{DCDDFB09-B7A4-8C5E-3BEB-D22DF0CB0238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3531476" y="4844139"/>
            <a:ext cx="12323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or de fletxa recta 9">
            <a:extLst>
              <a:ext uri="{FF2B5EF4-FFF2-40B4-BE49-F238E27FC236}">
                <a16:creationId xmlns:a16="http://schemas.microsoft.com/office/drawing/2014/main" id="{5CFFF072-1A0B-9F32-AD70-7392466B4A6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7448156" y="4016451"/>
            <a:ext cx="1526102" cy="827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QuadreDeText 25">
            <a:extLst>
              <a:ext uri="{FF2B5EF4-FFF2-40B4-BE49-F238E27FC236}">
                <a16:creationId xmlns:a16="http://schemas.microsoft.com/office/drawing/2014/main" id="{EF67E71B-734E-51FD-378E-A581596E9B86}"/>
              </a:ext>
            </a:extLst>
          </p:cNvPr>
          <p:cNvSpPr txBox="1"/>
          <p:nvPr/>
        </p:nvSpPr>
        <p:spPr>
          <a:xfrm rot="19933144">
            <a:off x="7531188" y="3877951"/>
            <a:ext cx="2194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260 g CO₂/kWh</a:t>
            </a:r>
          </a:p>
        </p:txBody>
      </p:sp>
      <p:sp>
        <p:nvSpPr>
          <p:cNvPr id="33" name="Rectangle: cantonades arrodonides 32">
            <a:extLst>
              <a:ext uri="{FF2B5EF4-FFF2-40B4-BE49-F238E27FC236}">
                <a16:creationId xmlns:a16="http://schemas.microsoft.com/office/drawing/2014/main" id="{A7B8C6C9-76D6-6040-EAC2-C91AE38C5761}"/>
              </a:ext>
            </a:extLst>
          </p:cNvPr>
          <p:cNvSpPr/>
          <p:nvPr/>
        </p:nvSpPr>
        <p:spPr>
          <a:xfrm>
            <a:off x="8974259" y="4926121"/>
            <a:ext cx="2684341" cy="151821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13.200–33.000 M de litres d’aigua/</a:t>
            </a:r>
            <a:r>
              <a:rPr lang="fr-FR" b="1" dirty="0" err="1"/>
              <a:t>any</a:t>
            </a:r>
            <a:endParaRPr lang="en-GB" b="1" dirty="0"/>
          </a:p>
        </p:txBody>
      </p:sp>
      <p:cxnSp>
        <p:nvCxnSpPr>
          <p:cNvPr id="46" name="Connector de fletxa recta 45">
            <a:extLst>
              <a:ext uri="{FF2B5EF4-FFF2-40B4-BE49-F238E27FC236}">
                <a16:creationId xmlns:a16="http://schemas.microsoft.com/office/drawing/2014/main" id="{3D6FD9B2-4FDA-C2D9-40D0-49D695824E9E}"/>
              </a:ext>
            </a:extLst>
          </p:cNvPr>
          <p:cNvCxnSpPr>
            <a:stCxn id="6" idx="3"/>
            <a:endCxn id="33" idx="1"/>
          </p:cNvCxnSpPr>
          <p:nvPr/>
        </p:nvCxnSpPr>
        <p:spPr>
          <a:xfrm>
            <a:off x="7448156" y="4844139"/>
            <a:ext cx="1526103" cy="841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QuadreDeText 54">
            <a:extLst>
              <a:ext uri="{FF2B5EF4-FFF2-40B4-BE49-F238E27FC236}">
                <a16:creationId xmlns:a16="http://schemas.microsoft.com/office/drawing/2014/main" id="{C4516EC0-1C4A-E442-F840-41AE4889626D}"/>
              </a:ext>
            </a:extLst>
          </p:cNvPr>
          <p:cNvSpPr txBox="1"/>
          <p:nvPr/>
        </p:nvSpPr>
        <p:spPr>
          <a:xfrm>
            <a:off x="3531476" y="4567140"/>
            <a:ext cx="2194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0,08345 €/kWh</a:t>
            </a:r>
          </a:p>
        </p:txBody>
      </p:sp>
      <p:sp>
        <p:nvSpPr>
          <p:cNvPr id="57" name="QuadreDeText 56">
            <a:extLst>
              <a:ext uri="{FF2B5EF4-FFF2-40B4-BE49-F238E27FC236}">
                <a16:creationId xmlns:a16="http://schemas.microsoft.com/office/drawing/2014/main" id="{1F8724C6-14B1-AA9B-7A8D-3227746730BF}"/>
              </a:ext>
            </a:extLst>
          </p:cNvPr>
          <p:cNvSpPr txBox="1"/>
          <p:nvPr/>
        </p:nvSpPr>
        <p:spPr>
          <a:xfrm>
            <a:off x="6531654" y="1555733"/>
            <a:ext cx="2566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IBM </a:t>
            </a:r>
            <a:r>
              <a:rPr lang="en-GB" b="1" dirty="0" err="1"/>
              <a:t>TrueNorth</a:t>
            </a:r>
            <a:endParaRPr lang="en-GB" b="1" dirty="0"/>
          </a:p>
        </p:txBody>
      </p:sp>
      <p:cxnSp>
        <p:nvCxnSpPr>
          <p:cNvPr id="59" name="Connector de fletxa recta 58">
            <a:extLst>
              <a:ext uri="{FF2B5EF4-FFF2-40B4-BE49-F238E27FC236}">
                <a16:creationId xmlns:a16="http://schemas.microsoft.com/office/drawing/2014/main" id="{2B441C77-A50C-75AE-0DDC-DA59CE298C42}"/>
              </a:ext>
            </a:extLst>
          </p:cNvPr>
          <p:cNvCxnSpPr/>
          <p:nvPr/>
        </p:nvCxnSpPr>
        <p:spPr>
          <a:xfrm>
            <a:off x="8500767" y="1740399"/>
            <a:ext cx="8954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QuadreDeText 59">
            <a:extLst>
              <a:ext uri="{FF2B5EF4-FFF2-40B4-BE49-F238E27FC236}">
                <a16:creationId xmlns:a16="http://schemas.microsoft.com/office/drawing/2014/main" id="{27200DDD-D087-8F1D-CBD7-E9A6255BE0FE}"/>
              </a:ext>
            </a:extLst>
          </p:cNvPr>
          <p:cNvSpPr txBox="1"/>
          <p:nvPr/>
        </p:nvSpPr>
        <p:spPr>
          <a:xfrm>
            <a:off x="9569406" y="1406054"/>
            <a:ext cx="2258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Millores</a:t>
            </a:r>
            <a:r>
              <a:rPr lang="en-GB" dirty="0"/>
              <a:t> </a:t>
            </a:r>
            <a:r>
              <a:rPr lang="en-GB" dirty="0" err="1"/>
              <a:t>d’eficiencia</a:t>
            </a:r>
            <a:r>
              <a:rPr lang="en-GB" dirty="0"/>
              <a:t> de fins al </a:t>
            </a:r>
            <a:r>
              <a:rPr lang="en-GB" b="1" dirty="0"/>
              <a:t>50%</a:t>
            </a:r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9740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i treball futur</a:t>
            </a:r>
            <a:endParaRPr lang="ca-ES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2270760"/>
            <a:ext cx="553212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ca-ES" sz="1500" noProof="0" dirty="0">
                <a:solidFill>
                  <a:srgbClr val="111827"/>
                </a:solidFill>
              </a:rPr>
              <a:t>S’han estudiat els fonaments de les </a:t>
            </a:r>
            <a:r>
              <a:rPr lang="ca-ES" sz="1500" noProof="0" dirty="0" err="1">
                <a:solidFill>
                  <a:srgbClr val="111827"/>
                </a:solidFill>
              </a:rPr>
              <a:t>SNNs</a:t>
            </a:r>
            <a:r>
              <a:rPr lang="ca-ES" sz="1500" noProof="0" dirty="0">
                <a:solidFill>
                  <a:srgbClr val="111827"/>
                </a:solidFill>
              </a:rPr>
              <a:t> i la seva relació amb les </a:t>
            </a:r>
            <a:r>
              <a:rPr lang="ca-ES" sz="1500" noProof="0" dirty="0" err="1">
                <a:solidFill>
                  <a:srgbClr val="111827"/>
                </a:solidFill>
              </a:rPr>
              <a:t>ANNs</a:t>
            </a:r>
            <a:r>
              <a:rPr lang="ca-ES" sz="1500" noProof="0" dirty="0">
                <a:solidFill>
                  <a:srgbClr val="111827"/>
                </a:solidFill>
              </a:rPr>
              <a:t> tradicionals.</a:t>
            </a:r>
            <a:endParaRPr lang="ca-ES" sz="1500" noProof="0" dirty="0"/>
          </a:p>
          <a:p>
            <a:pPr marL="152400" indent="-152400">
              <a:buSzPct val="100000"/>
              <a:buChar char="•"/>
            </a:pPr>
            <a:r>
              <a:rPr lang="ca-ES" sz="1500" noProof="0" dirty="0">
                <a:solidFill>
                  <a:srgbClr val="111827"/>
                </a:solidFill>
              </a:rPr>
              <a:t>S’ha validat una conversió ANN/CNN→SNN en dos escenaris: polígon i MNIST.</a:t>
            </a:r>
            <a:endParaRPr lang="ca-ES" sz="1500" noProof="0" dirty="0"/>
          </a:p>
          <a:p>
            <a:pPr marL="152400" indent="-152400">
              <a:buSzPct val="100000"/>
              <a:buChar char="•"/>
            </a:pPr>
            <a:r>
              <a:rPr lang="ca-ES" sz="1500" noProof="0" dirty="0">
                <a:solidFill>
                  <a:srgbClr val="111827"/>
                </a:solidFill>
              </a:rPr>
              <a:t>La SNN convertida manté un comportament funcional, amb pèrdua de precisió assumible.</a:t>
            </a:r>
            <a:endParaRPr lang="ca-ES" sz="1500" noProof="0" dirty="0"/>
          </a:p>
          <a:p>
            <a:pPr marL="152400" indent="-152400">
              <a:buSzPct val="100000"/>
              <a:buChar char="•"/>
            </a:pPr>
            <a:r>
              <a:rPr lang="ca-ES" sz="1500" noProof="0" dirty="0">
                <a:solidFill>
                  <a:srgbClr val="111827"/>
                </a:solidFill>
              </a:rPr>
              <a:t>Les </a:t>
            </a:r>
            <a:r>
              <a:rPr lang="ca-ES" sz="1500" noProof="0" dirty="0" err="1">
                <a:solidFill>
                  <a:srgbClr val="111827"/>
                </a:solidFill>
              </a:rPr>
              <a:t>SNNs</a:t>
            </a:r>
            <a:r>
              <a:rPr lang="ca-ES" sz="1500" noProof="0" dirty="0">
                <a:solidFill>
                  <a:srgbClr val="111827"/>
                </a:solidFill>
              </a:rPr>
              <a:t> són prometedores, sobretot quan es combinen amb hardware </a:t>
            </a:r>
            <a:r>
              <a:rPr lang="ca-ES" sz="1500" noProof="0" dirty="0" err="1">
                <a:solidFill>
                  <a:srgbClr val="111827"/>
                </a:solidFill>
              </a:rPr>
              <a:t>neuromòrfic</a:t>
            </a:r>
            <a:r>
              <a:rPr lang="ca-ES" sz="1500" noProof="0" dirty="0">
                <a:solidFill>
                  <a:srgbClr val="111827"/>
                </a:solidFill>
              </a:rPr>
              <a:t>.</a:t>
            </a:r>
            <a:endParaRPr lang="ca-ES" sz="1500" noProof="0" dirty="0"/>
          </a:p>
        </p:txBody>
      </p:sp>
      <p:sp>
        <p:nvSpPr>
          <p:cNvPr id="6" name="Text 4"/>
          <p:cNvSpPr/>
          <p:nvPr/>
        </p:nvSpPr>
        <p:spPr>
          <a:xfrm>
            <a:off x="7040880" y="2447543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000" b="1" noProof="0" dirty="0">
                <a:solidFill>
                  <a:srgbClr val="1B2A41"/>
                </a:solidFill>
              </a:rPr>
              <a:t>Treball futur</a:t>
            </a:r>
            <a:endParaRPr lang="ca-E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040880" y="2520696"/>
            <a:ext cx="411480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ca-ES" sz="1400" noProof="0" dirty="0" err="1">
                <a:solidFill>
                  <a:srgbClr val="111827"/>
                </a:solidFill>
              </a:rPr>
              <a:t>Fine-tuning</a:t>
            </a:r>
            <a:r>
              <a:rPr lang="ca-ES" sz="1400" noProof="0" dirty="0">
                <a:solidFill>
                  <a:srgbClr val="111827"/>
                </a:solidFill>
              </a:rPr>
              <a:t> posterior a la conversió.</a:t>
            </a:r>
            <a:endParaRPr lang="ca-ES" sz="1400" noProof="0" dirty="0"/>
          </a:p>
          <a:p>
            <a:pPr marL="152400" indent="-152400">
              <a:buSzPct val="100000"/>
              <a:buChar char="•"/>
            </a:pPr>
            <a:r>
              <a:rPr lang="ca-ES" sz="1400" noProof="0" dirty="0" err="1">
                <a:solidFill>
                  <a:srgbClr val="111827"/>
                </a:solidFill>
              </a:rPr>
              <a:t>Datasets</a:t>
            </a:r>
            <a:r>
              <a:rPr lang="ca-ES" sz="1400" noProof="0" dirty="0">
                <a:solidFill>
                  <a:srgbClr val="111827"/>
                </a:solidFill>
              </a:rPr>
              <a:t> més complexos que MNIST.</a:t>
            </a:r>
            <a:endParaRPr lang="ca-ES" sz="1400" noProof="0" dirty="0"/>
          </a:p>
          <a:p>
            <a:pPr marL="152400" indent="-152400">
              <a:buSzPct val="100000"/>
              <a:buChar char="•"/>
            </a:pPr>
            <a:r>
              <a:rPr lang="ca-ES" sz="1400" noProof="0" dirty="0">
                <a:solidFill>
                  <a:srgbClr val="111827"/>
                </a:solidFill>
              </a:rPr>
              <a:t>Mesura energètica real en FPGA o xip </a:t>
            </a:r>
            <a:r>
              <a:rPr lang="ca-ES" sz="1400" noProof="0" dirty="0" err="1">
                <a:solidFill>
                  <a:srgbClr val="111827"/>
                </a:solidFill>
              </a:rPr>
              <a:t>neuromòrfic</a:t>
            </a:r>
            <a:r>
              <a:rPr lang="ca-ES" sz="1400" noProof="0" dirty="0">
                <a:solidFill>
                  <a:srgbClr val="111827"/>
                </a:solidFill>
              </a:rPr>
              <a:t>.</a:t>
            </a:r>
            <a:endParaRPr lang="ca-ES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10698480" y="6492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a-ES" sz="1200" noProof="0" dirty="0">
                <a:solidFill>
                  <a:srgbClr val="6B7280"/>
                </a:solidFill>
              </a:rPr>
              <a:t>15</a:t>
            </a:r>
            <a:r>
              <a:rPr lang="ca-ES" sz="700" noProof="0" dirty="0">
                <a:solidFill>
                  <a:srgbClr val="6B7280"/>
                </a:solidFill>
              </a:rPr>
              <a:t> </a:t>
            </a:r>
            <a:endParaRPr lang="ca-ES" sz="7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5473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ca-ES" sz="2400" b="1" noProof="0" dirty="0" err="1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omparativa</a:t>
            </a: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visual CNN </a:t>
            </a:r>
            <a:r>
              <a:rPr lang="ca-ES" sz="2400" b="1" noProof="0" dirty="0" err="1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r>
              <a:rPr lang="ca-ES" sz="2400" b="1" noProof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SNN</a:t>
            </a:r>
            <a:endParaRPr lang="ca-ES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sp>
        <p:nvSpPr>
          <p:cNvPr id="5" name="Shape 3"/>
          <p:cNvSpPr/>
          <p:nvPr/>
        </p:nvSpPr>
        <p:spPr>
          <a:xfrm>
            <a:off x="868680" y="1853184"/>
            <a:ext cx="6309360" cy="3886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a-ES" noProof="0" dirty="0"/>
          </a:p>
        </p:txBody>
      </p:sp>
      <p:pic>
        <p:nvPicPr>
          <p:cNvPr id="6" name="Image 0" descr="/mnt/data/tfg_assets/extracted/p53_img1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539" y="1889760"/>
            <a:ext cx="5413641" cy="3813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766816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750" noProof="0" dirty="0">
                <a:solidFill>
                  <a:srgbClr val="6B7280"/>
                </a:solidFill>
              </a:rPr>
              <a:t>Captura de l’aplicació web</a:t>
            </a:r>
            <a:endParaRPr lang="ca-ES" sz="750" noProof="0" dirty="0"/>
          </a:p>
        </p:txBody>
      </p:sp>
      <p:sp>
        <p:nvSpPr>
          <p:cNvPr id="8" name="Text 5"/>
          <p:cNvSpPr/>
          <p:nvPr/>
        </p:nvSpPr>
        <p:spPr>
          <a:xfrm>
            <a:off x="7589520" y="2587752"/>
            <a:ext cx="333756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ca-ES" sz="1400" noProof="0" dirty="0" err="1">
                <a:solidFill>
                  <a:srgbClr val="111827"/>
                </a:solidFill>
              </a:rPr>
              <a:t>Frontend</a:t>
            </a:r>
            <a:r>
              <a:rPr lang="ca-ES" sz="1400" noProof="0" dirty="0">
                <a:solidFill>
                  <a:srgbClr val="111827"/>
                </a:solidFill>
              </a:rPr>
              <a:t>: HTML/CSS amb </a:t>
            </a:r>
            <a:r>
              <a:rPr lang="ca-ES" sz="1400" noProof="0" dirty="0" err="1">
                <a:solidFill>
                  <a:srgbClr val="111827"/>
                </a:solidFill>
              </a:rPr>
              <a:t>canvas</a:t>
            </a:r>
            <a:r>
              <a:rPr lang="ca-ES" sz="1400" noProof="0" dirty="0">
                <a:solidFill>
                  <a:srgbClr val="111827"/>
                </a:solidFill>
              </a:rPr>
              <a:t> de 28×28 píxels.</a:t>
            </a:r>
            <a:endParaRPr lang="ca-ES" sz="1400" noProof="0" dirty="0"/>
          </a:p>
          <a:p>
            <a:pPr marL="152400" indent="-152400">
              <a:buSzPct val="100000"/>
              <a:buChar char="•"/>
            </a:pPr>
            <a:r>
              <a:rPr lang="ca-ES" sz="1400" noProof="0" dirty="0" err="1">
                <a:solidFill>
                  <a:srgbClr val="111827"/>
                </a:solidFill>
              </a:rPr>
              <a:t>Backend</a:t>
            </a:r>
            <a:r>
              <a:rPr lang="ca-ES" sz="1400" noProof="0" dirty="0">
                <a:solidFill>
                  <a:srgbClr val="111827"/>
                </a:solidFill>
              </a:rPr>
              <a:t>: </a:t>
            </a:r>
            <a:r>
              <a:rPr lang="ca-ES" sz="1400" noProof="0" dirty="0" err="1">
                <a:solidFill>
                  <a:srgbClr val="111827"/>
                </a:solidFill>
              </a:rPr>
              <a:t>Flask</a:t>
            </a:r>
            <a:r>
              <a:rPr lang="ca-ES" sz="1400" noProof="0" dirty="0">
                <a:solidFill>
                  <a:srgbClr val="111827"/>
                </a:solidFill>
              </a:rPr>
              <a:t> en </a:t>
            </a:r>
            <a:r>
              <a:rPr lang="ca-ES" sz="1400" noProof="0" dirty="0" err="1">
                <a:solidFill>
                  <a:srgbClr val="111827"/>
                </a:solidFill>
              </a:rPr>
              <a:t>Python</a:t>
            </a:r>
            <a:r>
              <a:rPr lang="ca-ES" sz="1400" noProof="0" dirty="0">
                <a:solidFill>
                  <a:srgbClr val="111827"/>
                </a:solidFill>
              </a:rPr>
              <a:t> per carregar models i retornar prediccions.</a:t>
            </a:r>
            <a:endParaRPr lang="ca-ES" sz="1400" noProof="0" dirty="0"/>
          </a:p>
          <a:p>
            <a:pPr marL="152400" indent="-152400">
              <a:buSzPct val="100000"/>
              <a:buChar char="•"/>
            </a:pPr>
            <a:r>
              <a:rPr lang="ca-ES" sz="1400" noProof="0" dirty="0">
                <a:solidFill>
                  <a:srgbClr val="111827"/>
                </a:solidFill>
              </a:rPr>
              <a:t>Objectiu: comparar visualment la predicció i la confiança de CNN i SNN.</a:t>
            </a:r>
            <a:endParaRPr lang="ca-ES" sz="1400" noProof="0" dirty="0"/>
          </a:p>
        </p:txBody>
      </p:sp>
      <p:sp>
        <p:nvSpPr>
          <p:cNvPr id="11" name="Text 8"/>
          <p:cNvSpPr/>
          <p:nvPr/>
        </p:nvSpPr>
        <p:spPr>
          <a:xfrm>
            <a:off x="10698480" y="6492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ca-ES" sz="1200" noProof="0" dirty="0">
                <a:solidFill>
                  <a:srgbClr val="6B7280"/>
                </a:solidFill>
              </a:rPr>
              <a:t>16</a:t>
            </a:r>
            <a:endParaRPr lang="ca-ES" sz="12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4400" b="1" noProof="0" dirty="0">
                <a:solidFill>
                  <a:srgbClr val="FFFFFF"/>
                </a:solidFill>
              </a:rPr>
              <a:t>Gràcies</a:t>
            </a:r>
            <a:endParaRPr lang="ca-ES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86868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2600" noProof="0" dirty="0">
                <a:solidFill>
                  <a:srgbClr val="DDEBFF"/>
                </a:solidFill>
              </a:rPr>
              <a:t>Preguntes?</a:t>
            </a:r>
            <a:endParaRPr lang="ca-ES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868680" y="53035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300" noProof="0" dirty="0">
                <a:solidFill>
                  <a:srgbClr val="DDEBFF"/>
                </a:solidFill>
              </a:rPr>
              <a:t>Estudi i desenvolupament d’una arquitectura d’intel·ligència artificial </a:t>
            </a:r>
            <a:r>
              <a:rPr lang="ca-ES" sz="1300" noProof="0" dirty="0" err="1">
                <a:solidFill>
                  <a:srgbClr val="DDEBFF"/>
                </a:solidFill>
              </a:rPr>
              <a:t>neuromòrfica</a:t>
            </a:r>
            <a:r>
              <a:rPr lang="ca-ES" sz="1300" noProof="0" dirty="0">
                <a:solidFill>
                  <a:srgbClr val="DDEBFF"/>
                </a:solidFill>
              </a:rPr>
              <a:t> basada en xarxes neuronals de polsos (</a:t>
            </a:r>
            <a:r>
              <a:rPr lang="ca-ES" sz="1300" noProof="0" dirty="0" err="1">
                <a:solidFill>
                  <a:srgbClr val="DDEBFF"/>
                </a:solidFill>
              </a:rPr>
              <a:t>SNNs</a:t>
            </a:r>
            <a:r>
              <a:rPr lang="ca-ES" sz="1300" noProof="0" dirty="0">
                <a:solidFill>
                  <a:srgbClr val="DDEBFF"/>
                </a:solidFill>
              </a:rPr>
              <a:t>).</a:t>
            </a:r>
          </a:p>
        </p:txBody>
      </p:sp>
      <p:pic>
        <p:nvPicPr>
          <p:cNvPr id="8" name="Imagen 7" descr="Dibujo en fondo negro&#10;&#10;El contenido generado por IA puede ser incorrecto.">
            <a:extLst>
              <a:ext uri="{FF2B5EF4-FFF2-40B4-BE49-F238E27FC236}">
                <a16:creationId xmlns:a16="http://schemas.microsoft.com/office/drawing/2014/main" id="{A0D28C6C-53CB-E1A8-B629-4A0ACA21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8642" y="305155"/>
            <a:ext cx="562649" cy="5418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1560</TotalTime>
  <Words>1071</Words>
  <Application>Microsoft Office PowerPoint</Application>
  <PresentationFormat>Pantalla panoràmica</PresentationFormat>
  <Paragraphs>186</Paragraphs>
  <Slides>17</Slides>
  <Notes>17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1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Alejandro Pérez</cp:lastModifiedBy>
  <cp:revision>7</cp:revision>
  <dcterms:created xsi:type="dcterms:W3CDTF">2026-05-03T12:38:52Z</dcterms:created>
  <dcterms:modified xsi:type="dcterms:W3CDTF">2026-05-05T13:45:28Z</dcterms:modified>
</cp:coreProperties>
</file>